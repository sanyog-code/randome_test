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9" r:id="rId23"/>
    <p:sldId id="280" r:id="rId24"/>
    <p:sldId id="281" r:id="rId25"/>
    <p:sldId id="282" r:id="rId26"/>
    <p:sldId id="283" r:id="rId27"/>
    <p:sldId id="284" r:id="rId28"/>
    <p:sldId id="285"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3C582A-D031-4FE0-8969-33BE9659DEF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4295-EE59-4095-A921-BBEBAC565CC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960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3C582A-D031-4FE0-8969-33BE9659DEF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201355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3C582A-D031-4FE0-8969-33BE9659DEF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4295-EE59-4095-A921-BBEBAC565CC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603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3C582A-D031-4FE0-8969-33BE9659DEF9}"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67675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3C582A-D031-4FE0-8969-33BE9659DEF9}"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3354759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3C582A-D031-4FE0-8969-33BE9659DEF9}"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199950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B3C582A-D031-4FE0-8969-33BE9659DEF9}" type="datetimeFigureOut">
              <a:rPr lang="en-US" smtClean="0"/>
              <a:t>5/13/2026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933650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B3C582A-D031-4FE0-8969-33BE9659DEF9}" type="datetimeFigureOut">
              <a:rPr lang="en-US" smtClean="0"/>
              <a:t>5/13/2026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A304295-EE59-4095-A921-BBEBAC565CCD}" type="slidenum">
              <a:rPr lang="en-US" smtClean="0"/>
              <a:t>‹#›</a:t>
            </a:fld>
            <a:endParaRPr lang="en-US"/>
          </a:p>
        </p:txBody>
      </p:sp>
    </p:spTree>
    <p:extLst>
      <p:ext uri="{BB962C8B-B14F-4D97-AF65-F5344CB8AC3E}">
        <p14:creationId xmlns:p14="http://schemas.microsoft.com/office/powerpoint/2010/main" val="174156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3C582A-D031-4FE0-8969-33BE9659DEF9}"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358581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3C582A-D031-4FE0-8969-33BE9659DEF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2302847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3C582A-D031-4FE0-8969-33BE9659DEF9}"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4295-EE59-4095-A921-BBEBAC565CCD}" type="slidenum">
              <a:rPr lang="en-US" smtClean="0"/>
              <a:t>‹#›</a:t>
            </a:fld>
            <a:endParaRPr lang="en-US"/>
          </a:p>
        </p:txBody>
      </p:sp>
    </p:spTree>
    <p:extLst>
      <p:ext uri="{BB962C8B-B14F-4D97-AF65-F5344CB8AC3E}">
        <p14:creationId xmlns:p14="http://schemas.microsoft.com/office/powerpoint/2010/main" val="960511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B3C582A-D031-4FE0-8969-33BE9659DEF9}" type="datetimeFigureOut">
              <a:rPr lang="en-US" smtClean="0"/>
              <a:t>5/13/2026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A304295-EE59-4095-A921-BBEBAC565CC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68738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localhost:8000/doc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10AB6-570B-8EE6-EEEC-DCAE50A31332}"/>
              </a:ext>
            </a:extLst>
          </p:cNvPr>
          <p:cNvSpPr>
            <a:spLocks noGrp="1"/>
          </p:cNvSpPr>
          <p:nvPr>
            <p:ph type="ctrTitle"/>
          </p:nvPr>
        </p:nvSpPr>
        <p:spPr>
          <a:xfrm>
            <a:off x="1097280" y="758952"/>
            <a:ext cx="10058400" cy="1470540"/>
          </a:xfrm>
        </p:spPr>
        <p:txBody>
          <a:bodyPr>
            <a:normAutofit/>
          </a:bodyPr>
          <a:lstStyle/>
          <a:p>
            <a:r>
              <a:rPr lang="en-US" dirty="0"/>
              <a:t>Capstone Project </a:t>
            </a:r>
          </a:p>
        </p:txBody>
      </p:sp>
      <p:sp>
        <p:nvSpPr>
          <p:cNvPr id="3" name="Subtitle 2">
            <a:extLst>
              <a:ext uri="{FF2B5EF4-FFF2-40B4-BE49-F238E27FC236}">
                <a16:creationId xmlns:a16="http://schemas.microsoft.com/office/drawing/2014/main" id="{D2CAD126-7354-2DE9-F971-E5BEB9CE3508}"/>
              </a:ext>
            </a:extLst>
          </p:cNvPr>
          <p:cNvSpPr>
            <a:spLocks noGrp="1"/>
          </p:cNvSpPr>
          <p:nvPr>
            <p:ph type="subTitle" idx="1"/>
          </p:nvPr>
        </p:nvSpPr>
        <p:spPr/>
        <p:txBody>
          <a:bodyPr>
            <a:normAutofit fontScale="85000" lnSpcReduction="20000"/>
          </a:bodyPr>
          <a:lstStyle/>
          <a:p>
            <a:r>
              <a:rPr lang="en-US" dirty="0"/>
              <a:t>By Shreesanyog rath</a:t>
            </a:r>
          </a:p>
          <a:p>
            <a:r>
              <a:rPr lang="en-US" dirty="0"/>
              <a:t>Organization - </a:t>
            </a:r>
            <a:r>
              <a:rPr lang="en-US" dirty="0" err="1"/>
              <a:t>Coforge</a:t>
            </a:r>
            <a:endParaRPr lang="en-US" dirty="0"/>
          </a:p>
          <a:p>
            <a:r>
              <a:rPr lang="en-US" dirty="0" err="1"/>
              <a:t>e.code</a:t>
            </a:r>
            <a:r>
              <a:rPr lang="en-US" dirty="0"/>
              <a:t>- 85000058</a:t>
            </a:r>
          </a:p>
        </p:txBody>
      </p:sp>
    </p:spTree>
    <p:extLst>
      <p:ext uri="{BB962C8B-B14F-4D97-AF65-F5344CB8AC3E}">
        <p14:creationId xmlns:p14="http://schemas.microsoft.com/office/powerpoint/2010/main" val="1820546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602335-9C97-D633-F40E-371C94F7D2FE}"/>
              </a:ext>
            </a:extLst>
          </p:cNvPr>
          <p:cNvSpPr txBox="1"/>
          <p:nvPr/>
        </p:nvSpPr>
        <p:spPr>
          <a:xfrm>
            <a:off x="678093" y="904126"/>
            <a:ext cx="11044719" cy="4031873"/>
          </a:xfrm>
          <a:prstGeom prst="rect">
            <a:avLst/>
          </a:prstGeom>
          <a:noFill/>
        </p:spPr>
        <p:txBody>
          <a:bodyPr wrap="square" rtlCol="0">
            <a:spAutoFit/>
          </a:bodyPr>
          <a:lstStyle/>
          <a:p>
            <a:pPr algn="ctr"/>
            <a:endParaRPr lang="en-US" sz="3200" b="1" dirty="0"/>
          </a:p>
          <a:p>
            <a:pPr algn="ctr"/>
            <a:r>
              <a:rPr lang="en-US" sz="3200" b="1" dirty="0"/>
              <a:t>Capstone Project 1</a:t>
            </a:r>
          </a:p>
          <a:p>
            <a:pPr algn="ctr"/>
            <a:endParaRPr lang="en-US" sz="3200" b="1" dirty="0"/>
          </a:p>
          <a:p>
            <a:pPr algn="ctr"/>
            <a:endParaRPr lang="en-US" sz="3200" b="1" dirty="0"/>
          </a:p>
          <a:p>
            <a:pPr algn="ctr"/>
            <a:r>
              <a:rPr lang="en-US" sz="3200" b="1" dirty="0"/>
              <a:t>Enterprise Loan Default Prediction System</a:t>
            </a:r>
          </a:p>
          <a:p>
            <a:pPr algn="ctr"/>
            <a:endParaRPr lang="en-US" sz="3200" b="1" dirty="0"/>
          </a:p>
          <a:p>
            <a:pPr algn="ctr"/>
            <a:r>
              <a:rPr lang="en-US" sz="3200" dirty="0"/>
              <a:t>End-to-End Machine Learning, </a:t>
            </a:r>
            <a:r>
              <a:rPr lang="en-US" sz="3200" dirty="0" err="1"/>
              <a:t>FastAPI</a:t>
            </a:r>
            <a:r>
              <a:rPr lang="en-US" sz="3200" dirty="0"/>
              <a:t> Deployment, and Azure </a:t>
            </a:r>
            <a:r>
              <a:rPr lang="en-US" sz="3200" dirty="0" err="1"/>
              <a:t>MLOps</a:t>
            </a:r>
            <a:r>
              <a:rPr lang="en-US" sz="3200" dirty="0"/>
              <a:t> </a:t>
            </a:r>
            <a:endParaRPr lang="en-US" sz="3200" b="1" dirty="0"/>
          </a:p>
        </p:txBody>
      </p:sp>
    </p:spTree>
    <p:extLst>
      <p:ext uri="{BB962C8B-B14F-4D97-AF65-F5344CB8AC3E}">
        <p14:creationId xmlns:p14="http://schemas.microsoft.com/office/powerpoint/2010/main" val="2966881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984E1-F70E-C98B-7BE0-3591953F1DF5}"/>
              </a:ext>
            </a:extLst>
          </p:cNvPr>
          <p:cNvSpPr>
            <a:spLocks noGrp="1"/>
          </p:cNvSpPr>
          <p:nvPr>
            <p:ph type="title"/>
          </p:nvPr>
        </p:nvSpPr>
        <p:spPr>
          <a:xfrm>
            <a:off x="1097280" y="286603"/>
            <a:ext cx="10058400" cy="1665487"/>
          </a:xfrm>
        </p:spPr>
        <p:txBody>
          <a:bodyPr>
            <a:normAutofit/>
          </a:bodyPr>
          <a:lstStyle/>
          <a:p>
            <a:pPr algn="ctr"/>
            <a:r>
              <a:rPr lang="en-US" b="1" dirty="0"/>
              <a:t>Business Problem &amp; Objective</a:t>
            </a:r>
            <a:br>
              <a:rPr lang="en-US" b="1" dirty="0"/>
            </a:br>
            <a:r>
              <a:rPr lang="en-US" sz="2200" dirty="0"/>
              <a:t>Mitigating Financial Risk with Predictive AI</a:t>
            </a:r>
            <a:br>
              <a:rPr lang="en-US" dirty="0"/>
            </a:br>
            <a:endParaRPr lang="en-US" b="1" dirty="0"/>
          </a:p>
        </p:txBody>
      </p:sp>
      <p:sp>
        <p:nvSpPr>
          <p:cNvPr id="3" name="Content Placeholder 2">
            <a:extLst>
              <a:ext uri="{FF2B5EF4-FFF2-40B4-BE49-F238E27FC236}">
                <a16:creationId xmlns:a16="http://schemas.microsoft.com/office/drawing/2014/main" id="{46C96757-4E80-124D-754F-338F9B3C6D12}"/>
              </a:ext>
            </a:extLst>
          </p:cNvPr>
          <p:cNvSpPr>
            <a:spLocks noGrp="1"/>
          </p:cNvSpPr>
          <p:nvPr>
            <p:ph idx="1"/>
          </p:nvPr>
        </p:nvSpPr>
        <p:spPr>
          <a:xfrm>
            <a:off x="676039" y="1952090"/>
            <a:ext cx="4998720" cy="4023360"/>
          </a:xfrm>
        </p:spPr>
        <p:txBody>
          <a:bodyPr/>
          <a:lstStyle/>
          <a:p>
            <a:r>
              <a:rPr lang="en-US" b="1" dirty="0"/>
              <a:t>The Challenge:</a:t>
            </a:r>
            <a:r>
              <a:rPr lang="en-US" dirty="0"/>
              <a:t> Incorrect loan approvals carry immense financial consequences for institutions, while rejecting creditworthy applicants results in missed revenue. </a:t>
            </a:r>
          </a:p>
          <a:p>
            <a:r>
              <a:rPr lang="en-US" b="1" dirty="0"/>
              <a:t>The Goal:</a:t>
            </a:r>
            <a:r>
              <a:rPr lang="en-US" dirty="0"/>
              <a:t> Build an automated classification model to predict default risk (0 = Safe, 1 = Default) based on historical borrower data.</a:t>
            </a:r>
          </a:p>
          <a:p>
            <a:r>
              <a:rPr lang="en-US" b="1" dirty="0"/>
              <a:t>The Solution:</a:t>
            </a:r>
            <a:r>
              <a:rPr lang="en-US" dirty="0"/>
              <a:t> A full </a:t>
            </a:r>
            <a:r>
              <a:rPr lang="en-US" dirty="0" err="1"/>
              <a:t>MLOps</a:t>
            </a:r>
            <a:r>
              <a:rPr lang="en-US" dirty="0"/>
              <a:t> lifecycle from Scikit-Learn model development to a scalable REST API on Azure.</a:t>
            </a:r>
          </a:p>
          <a:p>
            <a:endParaRPr lang="en-US" dirty="0"/>
          </a:p>
        </p:txBody>
      </p:sp>
      <p:pic>
        <p:nvPicPr>
          <p:cNvPr id="6" name="Picture 5">
            <a:extLst>
              <a:ext uri="{FF2B5EF4-FFF2-40B4-BE49-F238E27FC236}">
                <a16:creationId xmlns:a16="http://schemas.microsoft.com/office/drawing/2014/main" id="{3A164D13-2C02-E330-1A5D-DB6A9E3188FD}"/>
              </a:ext>
            </a:extLst>
          </p:cNvPr>
          <p:cNvPicPr>
            <a:picLocks noChangeAspect="1"/>
          </p:cNvPicPr>
          <p:nvPr/>
        </p:nvPicPr>
        <p:blipFill>
          <a:blip r:embed="rId2"/>
          <a:stretch>
            <a:fillRect/>
          </a:stretch>
        </p:blipFill>
        <p:spPr>
          <a:xfrm>
            <a:off x="7444064" y="2142945"/>
            <a:ext cx="2934109" cy="2572109"/>
          </a:xfrm>
          <a:prstGeom prst="rect">
            <a:avLst/>
          </a:prstGeom>
        </p:spPr>
      </p:pic>
    </p:spTree>
    <p:extLst>
      <p:ext uri="{BB962C8B-B14F-4D97-AF65-F5344CB8AC3E}">
        <p14:creationId xmlns:p14="http://schemas.microsoft.com/office/powerpoint/2010/main" val="875712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5F153E-3C7B-A595-440F-B0915930AA64}"/>
              </a:ext>
            </a:extLst>
          </p:cNvPr>
          <p:cNvPicPr>
            <a:picLocks noChangeAspect="1"/>
          </p:cNvPicPr>
          <p:nvPr/>
        </p:nvPicPr>
        <p:blipFill>
          <a:blip r:embed="rId2"/>
          <a:stretch>
            <a:fillRect/>
          </a:stretch>
        </p:blipFill>
        <p:spPr>
          <a:xfrm>
            <a:off x="547091" y="499937"/>
            <a:ext cx="10695827" cy="4359739"/>
          </a:xfrm>
          <a:prstGeom prst="rect">
            <a:avLst/>
          </a:prstGeom>
        </p:spPr>
      </p:pic>
      <p:sp>
        <p:nvSpPr>
          <p:cNvPr id="3" name="TextBox 2">
            <a:extLst>
              <a:ext uri="{FF2B5EF4-FFF2-40B4-BE49-F238E27FC236}">
                <a16:creationId xmlns:a16="http://schemas.microsoft.com/office/drawing/2014/main" id="{FDBAC5EE-B8FC-A3C3-2CE2-B616475EDFB7}"/>
              </a:ext>
            </a:extLst>
          </p:cNvPr>
          <p:cNvSpPr txBox="1"/>
          <p:nvPr/>
        </p:nvSpPr>
        <p:spPr>
          <a:xfrm>
            <a:off x="716621" y="5589141"/>
            <a:ext cx="11232223" cy="941348"/>
          </a:xfrm>
          <a:prstGeom prst="rect">
            <a:avLst/>
          </a:prstGeom>
          <a:noFill/>
        </p:spPr>
        <p:txBody>
          <a:bodyPr wrap="square">
            <a:spAutoFit/>
          </a:bodyPr>
          <a:lstStyle/>
          <a:p>
            <a:pPr marL="457200" marR="0" indent="-400050" algn="ctr">
              <a:lnSpc>
                <a:spcPct val="115000"/>
              </a:lnSpc>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Figure 1</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End-to-end data flow from raw ingestion to model deployment via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FastAPI</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Azure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MLflow</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00050" algn="ctr">
              <a:lnSpc>
                <a:spcPct val="115000"/>
              </a:lnSpc>
              <a:spcAft>
                <a:spcPts val="800"/>
              </a:spcAft>
              <a:buNone/>
            </a:pPr>
            <a:r>
              <a:rPr lang="en-US" sz="32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92811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CC9C-A6A7-28CE-B8F3-6F6C82B932D2}"/>
              </a:ext>
            </a:extLst>
          </p:cNvPr>
          <p:cNvSpPr>
            <a:spLocks noGrp="1"/>
          </p:cNvSpPr>
          <p:nvPr>
            <p:ph type="title"/>
          </p:nvPr>
        </p:nvSpPr>
        <p:spPr>
          <a:xfrm>
            <a:off x="1066800" y="957080"/>
            <a:ext cx="10058400" cy="1450757"/>
          </a:xfrm>
        </p:spPr>
        <p:txBody>
          <a:bodyPr>
            <a:normAutofit fontScale="90000"/>
          </a:bodyPr>
          <a:lstStyle/>
          <a:p>
            <a:pPr algn="ctr"/>
            <a:r>
              <a:rPr lang="en-US" b="1" dirty="0"/>
              <a:t>Data Engineering &amp; Preprocessing</a:t>
            </a:r>
            <a:br>
              <a:rPr lang="en-US" b="1" dirty="0"/>
            </a:br>
            <a:br>
              <a:rPr lang="en-US" b="1" dirty="0"/>
            </a:br>
            <a:endParaRPr lang="en-US" b="1" dirty="0"/>
          </a:p>
        </p:txBody>
      </p:sp>
      <p:sp>
        <p:nvSpPr>
          <p:cNvPr id="4" name="Rectangle 1">
            <a:extLst>
              <a:ext uri="{FF2B5EF4-FFF2-40B4-BE49-F238E27FC236}">
                <a16:creationId xmlns:a16="http://schemas.microsoft.com/office/drawing/2014/main" id="{50AAD0DE-7B6A-CCF7-3DA7-54562F47A4F9}"/>
              </a:ext>
            </a:extLst>
          </p:cNvPr>
          <p:cNvSpPr>
            <a:spLocks noGrp="1" noChangeArrowheads="1"/>
          </p:cNvSpPr>
          <p:nvPr>
            <p:ph idx="1"/>
          </p:nvPr>
        </p:nvSpPr>
        <p:spPr bwMode="auto">
          <a:xfrm>
            <a:off x="419185" y="2226784"/>
            <a:ext cx="5200779"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Imputation: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Systematically handled missing values (median for skewed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numericals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mode for categorical data).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Outlier Treatment: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Applied Interquartile Range (IQR) clipping to prevent extreme values from distorting the model.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Feature Scaling &amp; Encoding: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Standardized numerical features and applied Label Encoding for categorical text.</a:t>
            </a:r>
          </a:p>
        </p:txBody>
      </p:sp>
      <p:pic>
        <p:nvPicPr>
          <p:cNvPr id="8" name="Picture 7">
            <a:extLst>
              <a:ext uri="{FF2B5EF4-FFF2-40B4-BE49-F238E27FC236}">
                <a16:creationId xmlns:a16="http://schemas.microsoft.com/office/drawing/2014/main" id="{CBFE7983-A007-00DC-2E15-B2B5441BC6DC}"/>
              </a:ext>
            </a:extLst>
          </p:cNvPr>
          <p:cNvPicPr>
            <a:picLocks noChangeAspect="1"/>
          </p:cNvPicPr>
          <p:nvPr/>
        </p:nvPicPr>
        <p:blipFill>
          <a:blip r:embed="rId2"/>
          <a:stretch>
            <a:fillRect/>
          </a:stretch>
        </p:blipFill>
        <p:spPr>
          <a:xfrm>
            <a:off x="5714069" y="2466057"/>
            <a:ext cx="6058746" cy="2953162"/>
          </a:xfrm>
          <a:prstGeom prst="rect">
            <a:avLst/>
          </a:prstGeom>
        </p:spPr>
      </p:pic>
    </p:spTree>
    <p:extLst>
      <p:ext uri="{BB962C8B-B14F-4D97-AF65-F5344CB8AC3E}">
        <p14:creationId xmlns:p14="http://schemas.microsoft.com/office/powerpoint/2010/main" val="2765078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B181E-7506-3725-D1E6-5CC9D9E850DB}"/>
              </a:ext>
            </a:extLst>
          </p:cNvPr>
          <p:cNvSpPr>
            <a:spLocks noGrp="1"/>
          </p:cNvSpPr>
          <p:nvPr>
            <p:ph type="title"/>
          </p:nvPr>
        </p:nvSpPr>
        <p:spPr/>
        <p:txBody>
          <a:bodyPr/>
          <a:lstStyle/>
          <a:p>
            <a:r>
              <a:rPr lang="en-US" b="1" dirty="0"/>
              <a:t>Solving the Imbalance Problem (SMOTE)</a:t>
            </a:r>
            <a:br>
              <a:rPr lang="en-US" b="1" dirty="0"/>
            </a:br>
            <a:endParaRPr lang="en-US" dirty="0"/>
          </a:p>
        </p:txBody>
      </p:sp>
      <p:sp>
        <p:nvSpPr>
          <p:cNvPr id="4" name="Rectangle 1">
            <a:extLst>
              <a:ext uri="{FF2B5EF4-FFF2-40B4-BE49-F238E27FC236}">
                <a16:creationId xmlns:a16="http://schemas.microsoft.com/office/drawing/2014/main" id="{F8212988-6F5B-05F5-43F0-3BB6E589B4A6}"/>
              </a:ext>
            </a:extLst>
          </p:cNvPr>
          <p:cNvSpPr>
            <a:spLocks noGrp="1" noChangeArrowheads="1"/>
          </p:cNvSpPr>
          <p:nvPr>
            <p:ph idx="1"/>
          </p:nvPr>
        </p:nvSpPr>
        <p:spPr bwMode="auto">
          <a:xfrm>
            <a:off x="1097280" y="2436303"/>
            <a:ext cx="513913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The Issue:</a:t>
            </a:r>
            <a:r>
              <a:rPr kumimoji="0" lang="en-US" altLang="en-US" b="0" i="0" u="none" strike="noStrike" cap="none" normalizeH="0" baseline="0" dirty="0">
                <a:ln>
                  <a:noFill/>
                </a:ln>
                <a:solidFill>
                  <a:schemeClr val="tx1"/>
                </a:solidFill>
                <a:effectLst/>
              </a:rPr>
              <a:t> Non-defaults heavily outnumbered defaults in the dataset. A standard model would just guess "Safe" every time and appear accurate.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The Fix:</a:t>
            </a:r>
            <a:r>
              <a:rPr kumimoji="0" lang="en-US" altLang="en-US" b="0" i="0" u="none" strike="noStrike" cap="none" normalizeH="0" baseline="0" dirty="0">
                <a:ln>
                  <a:noFill/>
                </a:ln>
                <a:solidFill>
                  <a:schemeClr val="tx1"/>
                </a:solidFill>
                <a:effectLst/>
              </a:rPr>
              <a:t> Applied SMOTE (Synthetic Minority Over-sampling Technique) to artificially balance the target variable representation. </a:t>
            </a:r>
          </a:p>
        </p:txBody>
      </p:sp>
      <p:pic>
        <p:nvPicPr>
          <p:cNvPr id="6" name="Picture 5">
            <a:extLst>
              <a:ext uri="{FF2B5EF4-FFF2-40B4-BE49-F238E27FC236}">
                <a16:creationId xmlns:a16="http://schemas.microsoft.com/office/drawing/2014/main" id="{4FBBF94F-3D95-B0BE-7751-9117ABC2425F}"/>
              </a:ext>
            </a:extLst>
          </p:cNvPr>
          <p:cNvPicPr>
            <a:picLocks noChangeAspect="1"/>
          </p:cNvPicPr>
          <p:nvPr/>
        </p:nvPicPr>
        <p:blipFill>
          <a:blip r:embed="rId2"/>
          <a:stretch>
            <a:fillRect/>
          </a:stretch>
        </p:blipFill>
        <p:spPr>
          <a:xfrm>
            <a:off x="6561855" y="2295367"/>
            <a:ext cx="4801270" cy="1133633"/>
          </a:xfrm>
          <a:prstGeom prst="rect">
            <a:avLst/>
          </a:prstGeom>
        </p:spPr>
      </p:pic>
      <p:pic>
        <p:nvPicPr>
          <p:cNvPr id="8" name="Picture 7">
            <a:extLst>
              <a:ext uri="{FF2B5EF4-FFF2-40B4-BE49-F238E27FC236}">
                <a16:creationId xmlns:a16="http://schemas.microsoft.com/office/drawing/2014/main" id="{55E49D28-8FD9-9E65-4EB7-2A622C5BD0C5}"/>
              </a:ext>
            </a:extLst>
          </p:cNvPr>
          <p:cNvPicPr>
            <a:picLocks noChangeAspect="1"/>
          </p:cNvPicPr>
          <p:nvPr/>
        </p:nvPicPr>
        <p:blipFill>
          <a:blip r:embed="rId3"/>
          <a:stretch>
            <a:fillRect/>
          </a:stretch>
        </p:blipFill>
        <p:spPr>
          <a:xfrm>
            <a:off x="6585671" y="3857413"/>
            <a:ext cx="4753638" cy="1314633"/>
          </a:xfrm>
          <a:prstGeom prst="rect">
            <a:avLst/>
          </a:prstGeom>
        </p:spPr>
      </p:pic>
    </p:spTree>
    <p:extLst>
      <p:ext uri="{BB962C8B-B14F-4D97-AF65-F5344CB8AC3E}">
        <p14:creationId xmlns:p14="http://schemas.microsoft.com/office/powerpoint/2010/main" val="212892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97D2-42E9-FE67-2C71-5B51B8AD98BC}"/>
              </a:ext>
            </a:extLst>
          </p:cNvPr>
          <p:cNvSpPr>
            <a:spLocks noGrp="1"/>
          </p:cNvSpPr>
          <p:nvPr>
            <p:ph type="title"/>
          </p:nvPr>
        </p:nvSpPr>
        <p:spPr/>
        <p:txBody>
          <a:bodyPr/>
          <a:lstStyle/>
          <a:p>
            <a:pPr algn="ctr"/>
            <a:r>
              <a:rPr lang="en-US" b="1" dirty="0"/>
              <a:t>Model Selection &amp; Hyperparameter Tuning</a:t>
            </a:r>
          </a:p>
        </p:txBody>
      </p:sp>
      <p:sp>
        <p:nvSpPr>
          <p:cNvPr id="4" name="Rectangle 1">
            <a:extLst>
              <a:ext uri="{FF2B5EF4-FFF2-40B4-BE49-F238E27FC236}">
                <a16:creationId xmlns:a16="http://schemas.microsoft.com/office/drawing/2014/main" id="{7D7B8FCA-C4D3-8810-1E11-3FEED18B8029}"/>
              </a:ext>
            </a:extLst>
          </p:cNvPr>
          <p:cNvSpPr>
            <a:spLocks noGrp="1" noChangeArrowheads="1"/>
          </p:cNvSpPr>
          <p:nvPr>
            <p:ph idx="1"/>
          </p:nvPr>
        </p:nvSpPr>
        <p:spPr bwMode="auto">
          <a:xfrm>
            <a:off x="1097280" y="2426254"/>
            <a:ext cx="510150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Implemented five distinct classification algorithms to establish a competitive baseline: Logistic Regression, Decision Tree, Random Forest, Naive Bayes, and KNN.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Utilized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GridSearchCV</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exhaustively test parameter combinations (e.g., tree depths,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n_estimators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through rigorous cross-validation.</a:t>
            </a:r>
          </a:p>
        </p:txBody>
      </p:sp>
      <p:pic>
        <p:nvPicPr>
          <p:cNvPr id="6" name="Picture 5">
            <a:extLst>
              <a:ext uri="{FF2B5EF4-FFF2-40B4-BE49-F238E27FC236}">
                <a16:creationId xmlns:a16="http://schemas.microsoft.com/office/drawing/2014/main" id="{B53F5629-0EEF-6AAF-A5F1-F9253F851C6C}"/>
              </a:ext>
            </a:extLst>
          </p:cNvPr>
          <p:cNvPicPr>
            <a:picLocks noChangeAspect="1"/>
          </p:cNvPicPr>
          <p:nvPr/>
        </p:nvPicPr>
        <p:blipFill>
          <a:blip r:embed="rId2"/>
          <a:stretch>
            <a:fillRect/>
          </a:stretch>
        </p:blipFill>
        <p:spPr>
          <a:xfrm>
            <a:off x="6287785" y="2948230"/>
            <a:ext cx="5595478" cy="1870350"/>
          </a:xfrm>
          <a:prstGeom prst="rect">
            <a:avLst/>
          </a:prstGeom>
        </p:spPr>
      </p:pic>
    </p:spTree>
    <p:extLst>
      <p:ext uri="{BB962C8B-B14F-4D97-AF65-F5344CB8AC3E}">
        <p14:creationId xmlns:p14="http://schemas.microsoft.com/office/powerpoint/2010/main" val="2140931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5B491-B2ED-E683-3938-F3202E55737C}"/>
              </a:ext>
            </a:extLst>
          </p:cNvPr>
          <p:cNvSpPr>
            <a:spLocks noGrp="1"/>
          </p:cNvSpPr>
          <p:nvPr>
            <p:ph type="title"/>
          </p:nvPr>
        </p:nvSpPr>
        <p:spPr>
          <a:xfrm>
            <a:off x="1097280" y="286603"/>
            <a:ext cx="10058400" cy="874377"/>
          </a:xfrm>
        </p:spPr>
        <p:txBody>
          <a:bodyPr/>
          <a:lstStyle/>
          <a:p>
            <a:pPr algn="ctr"/>
            <a:r>
              <a:rPr lang="en-US" b="1" dirty="0"/>
              <a:t>Model Evaluation Results</a:t>
            </a:r>
          </a:p>
        </p:txBody>
      </p:sp>
      <p:sp>
        <p:nvSpPr>
          <p:cNvPr id="4" name="Rectangle 1">
            <a:extLst>
              <a:ext uri="{FF2B5EF4-FFF2-40B4-BE49-F238E27FC236}">
                <a16:creationId xmlns:a16="http://schemas.microsoft.com/office/drawing/2014/main" id="{96B5C70D-F6E6-68A2-5FDC-4B10D179C2BD}"/>
              </a:ext>
            </a:extLst>
          </p:cNvPr>
          <p:cNvSpPr>
            <a:spLocks noGrp="1" noChangeArrowheads="1"/>
          </p:cNvSpPr>
          <p:nvPr>
            <p:ph idx="1"/>
          </p:nvPr>
        </p:nvSpPr>
        <p:spPr bwMode="auto">
          <a:xfrm>
            <a:off x="1097280" y="2580142"/>
            <a:ext cx="465624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Metric Philosophy: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We prioritized the F1-Score over raw Accuracy because the business cost of a False Negative (missing a true defaulter) is extremely high.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Winner:</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Random Forest emerged as the superior model, achieving the best balance of Precision and Recall.</a:t>
            </a:r>
          </a:p>
        </p:txBody>
      </p:sp>
      <p:pic>
        <p:nvPicPr>
          <p:cNvPr id="6" name="Picture 5">
            <a:extLst>
              <a:ext uri="{FF2B5EF4-FFF2-40B4-BE49-F238E27FC236}">
                <a16:creationId xmlns:a16="http://schemas.microsoft.com/office/drawing/2014/main" id="{8356E250-5E33-EE76-F303-403F11664259}"/>
              </a:ext>
            </a:extLst>
          </p:cNvPr>
          <p:cNvPicPr>
            <a:picLocks noChangeAspect="1"/>
          </p:cNvPicPr>
          <p:nvPr/>
        </p:nvPicPr>
        <p:blipFill>
          <a:blip r:embed="rId2"/>
          <a:stretch>
            <a:fillRect/>
          </a:stretch>
        </p:blipFill>
        <p:spPr>
          <a:xfrm>
            <a:off x="6904234" y="2580142"/>
            <a:ext cx="4910075" cy="1938992"/>
          </a:xfrm>
          <a:prstGeom prst="rect">
            <a:avLst/>
          </a:prstGeom>
        </p:spPr>
      </p:pic>
    </p:spTree>
    <p:extLst>
      <p:ext uri="{BB962C8B-B14F-4D97-AF65-F5344CB8AC3E}">
        <p14:creationId xmlns:p14="http://schemas.microsoft.com/office/powerpoint/2010/main" val="238350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F82A-613B-3CC0-A509-8252DFD24D79}"/>
              </a:ext>
            </a:extLst>
          </p:cNvPr>
          <p:cNvSpPr>
            <a:spLocks noGrp="1"/>
          </p:cNvSpPr>
          <p:nvPr>
            <p:ph type="title"/>
          </p:nvPr>
        </p:nvSpPr>
        <p:spPr>
          <a:xfrm>
            <a:off x="1066800" y="-186009"/>
            <a:ext cx="10058400" cy="1450757"/>
          </a:xfrm>
        </p:spPr>
        <p:txBody>
          <a:bodyPr/>
          <a:lstStyle/>
          <a:p>
            <a:pPr algn="ctr"/>
            <a:r>
              <a:rPr lang="en-US" b="1" dirty="0"/>
              <a:t>Real-Time API Deployment (</a:t>
            </a:r>
            <a:r>
              <a:rPr lang="en-US" b="1" dirty="0" err="1"/>
              <a:t>FastAPI</a:t>
            </a:r>
            <a:r>
              <a:rPr lang="en-US" b="1" dirty="0"/>
              <a:t>)</a:t>
            </a:r>
          </a:p>
        </p:txBody>
      </p:sp>
      <p:sp>
        <p:nvSpPr>
          <p:cNvPr id="4" name="Rectangle 1">
            <a:extLst>
              <a:ext uri="{FF2B5EF4-FFF2-40B4-BE49-F238E27FC236}">
                <a16:creationId xmlns:a16="http://schemas.microsoft.com/office/drawing/2014/main" id="{8BF418B9-2E70-255C-0213-8034B6D7F2EA}"/>
              </a:ext>
            </a:extLst>
          </p:cNvPr>
          <p:cNvSpPr>
            <a:spLocks noGrp="1" noChangeArrowheads="1"/>
          </p:cNvSpPr>
          <p:nvPr>
            <p:ph idx="1"/>
          </p:nvPr>
        </p:nvSpPr>
        <p:spPr bwMode="auto">
          <a:xfrm>
            <a:off x="1097280" y="1964589"/>
            <a:ext cx="551927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Backend:</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Developed a high-performance ASGI web server using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FastAPI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handle real-time inference requests.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Strict Validation: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Implemented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Pydantic</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schemas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LoanInputSchema</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enforce strict input validation, preventing server crashes from malformed data.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Cloud Infrastructure: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Deployed as a Managed Online Endpoint on Azure, routing 100% of live traffic to the secure scoring script. </a:t>
            </a:r>
          </a:p>
        </p:txBody>
      </p:sp>
      <p:pic>
        <p:nvPicPr>
          <p:cNvPr id="5" name="Picture 4">
            <a:extLst>
              <a:ext uri="{FF2B5EF4-FFF2-40B4-BE49-F238E27FC236}">
                <a16:creationId xmlns:a16="http://schemas.microsoft.com/office/drawing/2014/main" id="{80BB86C5-A498-D8C5-7A34-41E1D3A4A41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5649" y="4295511"/>
            <a:ext cx="4710184" cy="1745693"/>
          </a:xfrm>
          <a:prstGeom prst="rect">
            <a:avLst/>
          </a:prstGeom>
          <a:noFill/>
          <a:ln>
            <a:noFill/>
          </a:ln>
        </p:spPr>
      </p:pic>
      <p:pic>
        <p:nvPicPr>
          <p:cNvPr id="6" name="Picture 5">
            <a:extLst>
              <a:ext uri="{FF2B5EF4-FFF2-40B4-BE49-F238E27FC236}">
                <a16:creationId xmlns:a16="http://schemas.microsoft.com/office/drawing/2014/main" id="{39407D71-DC07-DAF7-2839-7572F677FC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2774" y="1964589"/>
            <a:ext cx="4375935" cy="2158047"/>
          </a:xfrm>
          <a:prstGeom prst="rect">
            <a:avLst/>
          </a:prstGeom>
          <a:noFill/>
          <a:ln>
            <a:noFill/>
          </a:ln>
        </p:spPr>
      </p:pic>
    </p:spTree>
    <p:extLst>
      <p:ext uri="{BB962C8B-B14F-4D97-AF65-F5344CB8AC3E}">
        <p14:creationId xmlns:p14="http://schemas.microsoft.com/office/powerpoint/2010/main" val="616470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E1D9B-B24C-BDE7-1391-3AEEEFB2482A}"/>
              </a:ext>
            </a:extLst>
          </p:cNvPr>
          <p:cNvSpPr>
            <a:spLocks noGrp="1"/>
          </p:cNvSpPr>
          <p:nvPr>
            <p:ph type="title"/>
          </p:nvPr>
        </p:nvSpPr>
        <p:spPr/>
        <p:txBody>
          <a:bodyPr/>
          <a:lstStyle/>
          <a:p>
            <a:r>
              <a:rPr lang="en-US" b="1" dirty="0"/>
              <a:t>Production Monitoring &amp; Live Inference</a:t>
            </a:r>
          </a:p>
        </p:txBody>
      </p:sp>
      <p:sp>
        <p:nvSpPr>
          <p:cNvPr id="4" name="Rectangle 1">
            <a:extLst>
              <a:ext uri="{FF2B5EF4-FFF2-40B4-BE49-F238E27FC236}">
                <a16:creationId xmlns:a16="http://schemas.microsoft.com/office/drawing/2014/main" id="{6740A33B-93DE-95DA-0BDF-6D5E7E3471C0}"/>
              </a:ext>
            </a:extLst>
          </p:cNvPr>
          <p:cNvSpPr>
            <a:spLocks noGrp="1" noChangeArrowheads="1"/>
          </p:cNvSpPr>
          <p:nvPr>
            <p:ph idx="1"/>
          </p:nvPr>
        </p:nvSpPr>
        <p:spPr bwMode="auto">
          <a:xfrm>
            <a:off x="1097280" y="2118476"/>
            <a:ext cx="499872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Load Testing: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Simulated heavy user traffic (100 parallel requests) to validate the endpoint's stability.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Telemetry &amp; Logs: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Tracked system health using Azure's online deployment logs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gunicorn.access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container successfully processes requests with continuous HTTP 200 OK statuses.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Latency: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API resolves predictions in milliseconds, providing a seamless user experience. </a:t>
            </a:r>
          </a:p>
        </p:txBody>
      </p:sp>
      <p:pic>
        <p:nvPicPr>
          <p:cNvPr id="5" name="Picture 4">
            <a:extLst>
              <a:ext uri="{FF2B5EF4-FFF2-40B4-BE49-F238E27FC236}">
                <a16:creationId xmlns:a16="http://schemas.microsoft.com/office/drawing/2014/main" id="{4FA0D359-0C13-756C-B44D-F97829B75AC6}"/>
              </a:ext>
            </a:extLst>
          </p:cNvPr>
          <p:cNvPicPr>
            <a:picLocks noChangeAspect="1"/>
          </p:cNvPicPr>
          <p:nvPr/>
        </p:nvPicPr>
        <p:blipFill>
          <a:blip r:embed="rId2"/>
          <a:stretch>
            <a:fillRect/>
          </a:stretch>
        </p:blipFill>
        <p:spPr>
          <a:xfrm>
            <a:off x="6535219" y="2717851"/>
            <a:ext cx="4879369" cy="2279124"/>
          </a:xfrm>
          <a:prstGeom prst="rect">
            <a:avLst/>
          </a:prstGeom>
        </p:spPr>
      </p:pic>
    </p:spTree>
    <p:extLst>
      <p:ext uri="{BB962C8B-B14F-4D97-AF65-F5344CB8AC3E}">
        <p14:creationId xmlns:p14="http://schemas.microsoft.com/office/powerpoint/2010/main" val="33528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2D0B-F94B-A12A-C071-0E09D189EA51}"/>
              </a:ext>
            </a:extLst>
          </p:cNvPr>
          <p:cNvSpPr>
            <a:spLocks noGrp="1"/>
          </p:cNvSpPr>
          <p:nvPr>
            <p:ph type="title"/>
          </p:nvPr>
        </p:nvSpPr>
        <p:spPr/>
        <p:txBody>
          <a:bodyPr/>
          <a:lstStyle/>
          <a:p>
            <a:pPr algn="ctr"/>
            <a:r>
              <a:rPr lang="en-US" b="1" dirty="0"/>
              <a:t>Automated Retraining Strategy </a:t>
            </a:r>
          </a:p>
        </p:txBody>
      </p:sp>
      <p:sp>
        <p:nvSpPr>
          <p:cNvPr id="4" name="Rectangle 1">
            <a:extLst>
              <a:ext uri="{FF2B5EF4-FFF2-40B4-BE49-F238E27FC236}">
                <a16:creationId xmlns:a16="http://schemas.microsoft.com/office/drawing/2014/main" id="{C517428B-831F-1F56-22B7-CF037E29A1CE}"/>
              </a:ext>
            </a:extLst>
          </p:cNvPr>
          <p:cNvSpPr>
            <a:spLocks noGrp="1" noChangeArrowheads="1"/>
          </p:cNvSpPr>
          <p:nvPr>
            <p:ph idx="1"/>
          </p:nvPr>
        </p:nvSpPr>
        <p:spPr bwMode="auto">
          <a:xfrm>
            <a:off x="1097280" y="2118476"/>
            <a:ext cx="527162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Threat: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Models degrade over time as economic conditions and borrower profiles change.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Event-Driven Triggers: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system continuously monitors live predictions. If the F1-Score drops below a threshold (e.g., &lt; 0.75), an automated alert triggers the retraining pipeline.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Autonomous Resolution: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script fetches new data, re-applies SMOTE, trains a new "Challenger" model, and automatically registers it to Azure for a zero-downtime rollout.</a:t>
            </a:r>
          </a:p>
        </p:txBody>
      </p:sp>
      <p:pic>
        <p:nvPicPr>
          <p:cNvPr id="6" name="Picture 5">
            <a:extLst>
              <a:ext uri="{FF2B5EF4-FFF2-40B4-BE49-F238E27FC236}">
                <a16:creationId xmlns:a16="http://schemas.microsoft.com/office/drawing/2014/main" id="{FADA2CB7-56D3-6718-AD7C-F80CD92F7531}"/>
              </a:ext>
            </a:extLst>
          </p:cNvPr>
          <p:cNvPicPr>
            <a:picLocks noChangeAspect="1"/>
          </p:cNvPicPr>
          <p:nvPr/>
        </p:nvPicPr>
        <p:blipFill>
          <a:blip r:embed="rId2"/>
          <a:stretch>
            <a:fillRect/>
          </a:stretch>
        </p:blipFill>
        <p:spPr>
          <a:xfrm>
            <a:off x="6574083" y="2100008"/>
            <a:ext cx="4912424" cy="3496343"/>
          </a:xfrm>
          <a:prstGeom prst="rect">
            <a:avLst/>
          </a:prstGeom>
        </p:spPr>
      </p:pic>
    </p:spTree>
    <p:extLst>
      <p:ext uri="{BB962C8B-B14F-4D97-AF65-F5344CB8AC3E}">
        <p14:creationId xmlns:p14="http://schemas.microsoft.com/office/powerpoint/2010/main" val="3511212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33C6E0-47BB-DA82-E2F3-E1AF0ED89912}"/>
              </a:ext>
            </a:extLst>
          </p:cNvPr>
          <p:cNvSpPr txBox="1"/>
          <p:nvPr/>
        </p:nvSpPr>
        <p:spPr>
          <a:xfrm>
            <a:off x="1972637" y="1294544"/>
            <a:ext cx="8126859" cy="3293209"/>
          </a:xfrm>
          <a:prstGeom prst="rect">
            <a:avLst/>
          </a:prstGeom>
          <a:noFill/>
        </p:spPr>
        <p:txBody>
          <a:bodyPr wrap="square" rtlCol="0">
            <a:spAutoFit/>
          </a:bodyPr>
          <a:lstStyle/>
          <a:p>
            <a:pPr algn="ctr"/>
            <a:endParaRPr lang="en-US" b="1" dirty="0"/>
          </a:p>
          <a:p>
            <a:pPr algn="ctr"/>
            <a:r>
              <a:rPr lang="en-US" sz="3200" b="1" dirty="0"/>
              <a:t>Capstone Project 2</a:t>
            </a:r>
          </a:p>
          <a:p>
            <a:pPr algn="ctr"/>
            <a:endParaRPr lang="en-US" sz="3200" b="1" dirty="0"/>
          </a:p>
          <a:p>
            <a:pPr algn="ctr"/>
            <a:endParaRPr lang="en-US" sz="3600" b="1" dirty="0"/>
          </a:p>
          <a:p>
            <a:pPr algn="ctr"/>
            <a:r>
              <a:rPr lang="en-US" sz="3600" b="1" dirty="0"/>
              <a:t>Enterprise Customer Support Automation</a:t>
            </a:r>
          </a:p>
          <a:p>
            <a:pPr algn="ctr"/>
            <a:endParaRPr lang="en-US" b="1" dirty="0"/>
          </a:p>
          <a:p>
            <a:pPr algn="ctr"/>
            <a:r>
              <a:rPr lang="en-US" dirty="0"/>
              <a:t>Next-Generation RAG Pipeline with Multi-AI-Agentic Workflow &amp; CI/CD Deployment </a:t>
            </a:r>
            <a:endParaRPr lang="en-US" b="1" dirty="0"/>
          </a:p>
          <a:p>
            <a:endParaRPr lang="en-US" dirty="0"/>
          </a:p>
        </p:txBody>
      </p:sp>
    </p:spTree>
    <p:extLst>
      <p:ext uri="{BB962C8B-B14F-4D97-AF65-F5344CB8AC3E}">
        <p14:creationId xmlns:p14="http://schemas.microsoft.com/office/powerpoint/2010/main" val="2573635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D27F-B3A0-9876-CAAD-400F06D7A757}"/>
              </a:ext>
            </a:extLst>
          </p:cNvPr>
          <p:cNvSpPr>
            <a:spLocks noGrp="1"/>
          </p:cNvSpPr>
          <p:nvPr>
            <p:ph type="title"/>
          </p:nvPr>
        </p:nvSpPr>
        <p:spPr/>
        <p:txBody>
          <a:bodyPr/>
          <a:lstStyle/>
          <a:p>
            <a:pPr algn="ctr"/>
            <a:r>
              <a:rPr lang="en-US" b="1" dirty="0"/>
              <a:t>The Problem: "Naive RAG" vs. "Agentic RAG"</a:t>
            </a:r>
          </a:p>
        </p:txBody>
      </p:sp>
      <p:sp>
        <p:nvSpPr>
          <p:cNvPr id="4" name="Rectangle 1">
            <a:extLst>
              <a:ext uri="{FF2B5EF4-FFF2-40B4-BE49-F238E27FC236}">
                <a16:creationId xmlns:a16="http://schemas.microsoft.com/office/drawing/2014/main" id="{8027A351-0762-EB9F-745F-AE14A138448A}"/>
              </a:ext>
            </a:extLst>
          </p:cNvPr>
          <p:cNvSpPr>
            <a:spLocks noGrp="1" noChangeArrowheads="1"/>
          </p:cNvSpPr>
          <p:nvPr>
            <p:ph idx="1"/>
          </p:nvPr>
        </p:nvSpPr>
        <p:spPr bwMode="auto">
          <a:xfrm>
            <a:off x="1097280" y="1810700"/>
            <a:ext cx="626929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Industry Challenge: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Traditional chatbots and "Naive RAG" (Retrieval-Augmented Generation) systems take a user's question, blindly fetch a document, and generate a response. They lack diagnostic reasoning, emotional intelligence, and quality control.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Agentic Solution: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Instead of a single, monolithic LLM prompt, this architecture introduces a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Multi-Agent Workflow</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Result: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Five highly specialized AI "Personas" collaborate sequentially. They triage the issue, analyze customer sentiment, retrieve strict data, draft a response, and independently QA the result before sending it to the user.</a:t>
            </a:r>
          </a:p>
        </p:txBody>
      </p:sp>
    </p:spTree>
    <p:extLst>
      <p:ext uri="{BB962C8B-B14F-4D97-AF65-F5344CB8AC3E}">
        <p14:creationId xmlns:p14="http://schemas.microsoft.com/office/powerpoint/2010/main" val="1531912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70A7D5D-7D52-62D1-64D6-D6D813572A1D}"/>
              </a:ext>
            </a:extLst>
          </p:cNvPr>
          <p:cNvPicPr>
            <a:picLocks noChangeAspect="1"/>
          </p:cNvPicPr>
          <p:nvPr/>
        </p:nvPicPr>
        <p:blipFill>
          <a:blip r:embed="rId2"/>
          <a:stretch>
            <a:fillRect/>
          </a:stretch>
        </p:blipFill>
        <p:spPr>
          <a:xfrm>
            <a:off x="2129822" y="0"/>
            <a:ext cx="8205980" cy="5881419"/>
          </a:xfrm>
          <a:prstGeom prst="rect">
            <a:avLst/>
          </a:prstGeom>
        </p:spPr>
      </p:pic>
    </p:spTree>
    <p:extLst>
      <p:ext uri="{BB962C8B-B14F-4D97-AF65-F5344CB8AC3E}">
        <p14:creationId xmlns:p14="http://schemas.microsoft.com/office/powerpoint/2010/main" val="790988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08A6C-264F-168D-C7C9-2E7EAE7D0C95}"/>
              </a:ext>
            </a:extLst>
          </p:cNvPr>
          <p:cNvSpPr>
            <a:spLocks noGrp="1"/>
          </p:cNvSpPr>
          <p:nvPr>
            <p:ph type="title"/>
          </p:nvPr>
        </p:nvSpPr>
        <p:spPr/>
        <p:txBody>
          <a:bodyPr/>
          <a:lstStyle/>
          <a:p>
            <a:pPr algn="ctr"/>
            <a:r>
              <a:rPr lang="en-US" b="1" dirty="0"/>
              <a:t>Building the Brain (Hybrid RAG)</a:t>
            </a:r>
          </a:p>
        </p:txBody>
      </p:sp>
      <p:sp>
        <p:nvSpPr>
          <p:cNvPr id="4" name="Rectangle 1">
            <a:extLst>
              <a:ext uri="{FF2B5EF4-FFF2-40B4-BE49-F238E27FC236}">
                <a16:creationId xmlns:a16="http://schemas.microsoft.com/office/drawing/2014/main" id="{6D8F7D8F-BEE2-CE49-066B-9FEB2E962AAF}"/>
              </a:ext>
            </a:extLst>
          </p:cNvPr>
          <p:cNvSpPr>
            <a:spLocks noGrp="1" noChangeArrowheads="1"/>
          </p:cNvSpPr>
          <p:nvPr>
            <p:ph idx="1"/>
          </p:nvPr>
        </p:nvSpPr>
        <p:spPr bwMode="auto">
          <a:xfrm>
            <a:off x="1395231" y="1889123"/>
            <a:ext cx="502611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Vectorization: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Historical support tickets are chunked and converted into dense vector embeddings using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HuggingFace's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all-MiniLM-L6-v2. They are stored in a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FAISS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index for ultra-fast, local similarity search.</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Hybrid Search Strategy: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Semantic search alone can hallucinate. Our custom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TicketRAGTool</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combines </a:t>
            </a:r>
            <a:r>
              <a:rPr kumimoji="0" lang="en-US" altLang="en-US"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Semantic Search</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with </a:t>
            </a:r>
            <a:r>
              <a:rPr kumimoji="0" lang="en-US" altLang="en-US"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Keyword Filtering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(simulating BM25). It only returns documents if the user's core keywords physically exist in the retrieved semantic matches.</a:t>
            </a:r>
          </a:p>
        </p:txBody>
      </p:sp>
      <p:pic>
        <p:nvPicPr>
          <p:cNvPr id="6" name="Picture 5">
            <a:extLst>
              <a:ext uri="{FF2B5EF4-FFF2-40B4-BE49-F238E27FC236}">
                <a16:creationId xmlns:a16="http://schemas.microsoft.com/office/drawing/2014/main" id="{FA79BC25-AE87-8D8C-691D-8682A55795C6}"/>
              </a:ext>
            </a:extLst>
          </p:cNvPr>
          <p:cNvPicPr>
            <a:picLocks noChangeAspect="1"/>
          </p:cNvPicPr>
          <p:nvPr/>
        </p:nvPicPr>
        <p:blipFill>
          <a:blip r:embed="rId2"/>
          <a:stretch>
            <a:fillRect/>
          </a:stretch>
        </p:blipFill>
        <p:spPr>
          <a:xfrm>
            <a:off x="6937775" y="2633310"/>
            <a:ext cx="4651475" cy="2236641"/>
          </a:xfrm>
          <a:prstGeom prst="rect">
            <a:avLst/>
          </a:prstGeom>
        </p:spPr>
      </p:pic>
    </p:spTree>
    <p:extLst>
      <p:ext uri="{BB962C8B-B14F-4D97-AF65-F5344CB8AC3E}">
        <p14:creationId xmlns:p14="http://schemas.microsoft.com/office/powerpoint/2010/main" val="2867806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18301-001D-44E2-3383-EED130FF673C}"/>
              </a:ext>
            </a:extLst>
          </p:cNvPr>
          <p:cNvSpPr>
            <a:spLocks noGrp="1"/>
          </p:cNvSpPr>
          <p:nvPr>
            <p:ph type="title"/>
          </p:nvPr>
        </p:nvSpPr>
        <p:spPr>
          <a:xfrm>
            <a:off x="1097280" y="286604"/>
            <a:ext cx="10058400" cy="840448"/>
          </a:xfrm>
        </p:spPr>
        <p:txBody>
          <a:bodyPr>
            <a:normAutofit/>
          </a:bodyPr>
          <a:lstStyle/>
          <a:p>
            <a:pPr lvl="2" algn="ctr"/>
            <a:r>
              <a:rPr lang="en-US" sz="4800" b="1" dirty="0">
                <a:latin typeface="+mj-lt"/>
              </a:rPr>
              <a:t>The Multi-Agent Assembly Line </a:t>
            </a:r>
            <a:endParaRPr lang="en-US" sz="4800" dirty="0">
              <a:latin typeface="+mj-lt"/>
            </a:endParaRPr>
          </a:p>
        </p:txBody>
      </p:sp>
      <p:sp>
        <p:nvSpPr>
          <p:cNvPr id="4" name="Rectangle 1">
            <a:extLst>
              <a:ext uri="{FF2B5EF4-FFF2-40B4-BE49-F238E27FC236}">
                <a16:creationId xmlns:a16="http://schemas.microsoft.com/office/drawing/2014/main" id="{CEDC5E69-7554-EA7B-374C-DC7177274533}"/>
              </a:ext>
            </a:extLst>
          </p:cNvPr>
          <p:cNvSpPr>
            <a:spLocks noGrp="1" noChangeArrowheads="1"/>
          </p:cNvSpPr>
          <p:nvPr>
            <p:ph idx="1"/>
          </p:nvPr>
        </p:nvSpPr>
        <p:spPr bwMode="auto">
          <a:xfrm>
            <a:off x="659573" y="2040700"/>
            <a:ext cx="10872854" cy="3857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t>Agent 1 (Query Understanding):</a:t>
            </a:r>
            <a:r>
              <a:rPr lang="en-US" dirty="0"/>
              <a:t> The first point of contact. Its sole responsibility is to strip away conversational noise and identify the core technical entity (e.g., "Router").</a:t>
            </a:r>
          </a:p>
          <a:p>
            <a:pPr lvl="0"/>
            <a:r>
              <a:rPr lang="en-US" b="1" dirty="0"/>
              <a:t>Agent 2 (Sentiment Analysis):</a:t>
            </a:r>
            <a:r>
              <a:rPr lang="en-US" dirty="0"/>
              <a:t> Receives the parsed intent and evaluates the emotional weight, appending an "Urgency Score".</a:t>
            </a:r>
          </a:p>
          <a:p>
            <a:pPr lvl="0"/>
            <a:r>
              <a:rPr lang="en-US" b="1" dirty="0"/>
              <a:t>Agent 3 (RAG Retrieval Agent):</a:t>
            </a:r>
            <a:r>
              <a:rPr lang="en-US" dirty="0"/>
              <a:t> The only agent permitted to access external data via the </a:t>
            </a:r>
            <a:r>
              <a:rPr lang="en-US" dirty="0" err="1"/>
              <a:t>TicketRAGTool</a:t>
            </a:r>
            <a:r>
              <a:rPr lang="en-US" dirty="0"/>
              <a:t>. It queries the local FAISS Vector DB using Hybrid Search. If no relevant historical ticket is found, this agent strictly returns "NO_SOLUTION_FOUND" rather than hallucinating.</a:t>
            </a:r>
          </a:p>
          <a:p>
            <a:pPr lvl="0"/>
            <a:r>
              <a:rPr lang="en-US" b="1" dirty="0"/>
              <a:t>Agent 4 (Escalation Resolution Agent):</a:t>
            </a:r>
            <a:r>
              <a:rPr lang="en-US" dirty="0"/>
              <a:t> The drafter. It consumes the technical steps and applies the emotional parameters to draft a human-readable email response.</a:t>
            </a:r>
          </a:p>
          <a:p>
            <a:pPr lvl="0"/>
            <a:r>
              <a:rPr lang="en-US" b="1" dirty="0"/>
              <a:t>Agent 5 (Quality Assurance Agent):</a:t>
            </a:r>
            <a:r>
              <a:rPr lang="en-US" dirty="0"/>
              <a:t> The final firewall. It reviews the drafted response against the original query. If the draft fails any criteria, it forces a localized rewrite.</a:t>
            </a:r>
          </a:p>
        </p:txBody>
      </p:sp>
    </p:spTree>
    <p:extLst>
      <p:ext uri="{BB962C8B-B14F-4D97-AF65-F5344CB8AC3E}">
        <p14:creationId xmlns:p14="http://schemas.microsoft.com/office/powerpoint/2010/main" val="2906552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A7BC1-D929-2723-81B0-5EE38716CAAF}"/>
              </a:ext>
            </a:extLst>
          </p:cNvPr>
          <p:cNvSpPr>
            <a:spLocks noGrp="1"/>
          </p:cNvSpPr>
          <p:nvPr>
            <p:ph type="title"/>
          </p:nvPr>
        </p:nvSpPr>
        <p:spPr>
          <a:xfrm>
            <a:off x="1097280" y="286604"/>
            <a:ext cx="10058400" cy="833280"/>
          </a:xfrm>
        </p:spPr>
        <p:txBody>
          <a:bodyPr/>
          <a:lstStyle/>
          <a:p>
            <a:pPr algn="ctr"/>
            <a:r>
              <a:rPr lang="en-US" b="1" dirty="0"/>
              <a:t>API Serving &amp; Integration</a:t>
            </a:r>
          </a:p>
        </p:txBody>
      </p:sp>
      <p:sp>
        <p:nvSpPr>
          <p:cNvPr id="4" name="Rectangle 1">
            <a:extLst>
              <a:ext uri="{FF2B5EF4-FFF2-40B4-BE49-F238E27FC236}">
                <a16:creationId xmlns:a16="http://schemas.microsoft.com/office/drawing/2014/main" id="{F1A40F81-B8E7-F2E1-054D-EAB008E71606}"/>
              </a:ext>
            </a:extLst>
          </p:cNvPr>
          <p:cNvSpPr>
            <a:spLocks noGrp="1" noChangeArrowheads="1"/>
          </p:cNvSpPr>
          <p:nvPr>
            <p:ph idx="1"/>
          </p:nvPr>
        </p:nvSpPr>
        <p:spPr bwMode="auto">
          <a:xfrm>
            <a:off x="1097280" y="2118477"/>
            <a:ext cx="470681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Interface: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CrewAI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pipeline is wrapped in a high-performance </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FastAPI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ASGI web server.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Validation: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Uses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Pydantic</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schemas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BaseModel</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 validate incoming user requests.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Execution Time Tracking: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Monitors exactly how long the multi-agent reasoning process takes to complete.</a:t>
            </a:r>
          </a:p>
        </p:txBody>
      </p:sp>
      <p:pic>
        <p:nvPicPr>
          <p:cNvPr id="6" name="Picture 5">
            <a:extLst>
              <a:ext uri="{FF2B5EF4-FFF2-40B4-BE49-F238E27FC236}">
                <a16:creationId xmlns:a16="http://schemas.microsoft.com/office/drawing/2014/main" id="{15ABFBC6-67EC-A8DA-3AAF-B69C93494234}"/>
              </a:ext>
            </a:extLst>
          </p:cNvPr>
          <p:cNvPicPr>
            <a:picLocks noChangeAspect="1"/>
          </p:cNvPicPr>
          <p:nvPr/>
        </p:nvPicPr>
        <p:blipFill>
          <a:blip r:embed="rId2"/>
          <a:stretch>
            <a:fillRect/>
          </a:stretch>
        </p:blipFill>
        <p:spPr>
          <a:xfrm>
            <a:off x="6175905" y="2784298"/>
            <a:ext cx="5331152" cy="2350390"/>
          </a:xfrm>
          <a:prstGeom prst="rect">
            <a:avLst/>
          </a:prstGeom>
        </p:spPr>
      </p:pic>
    </p:spTree>
    <p:extLst>
      <p:ext uri="{BB962C8B-B14F-4D97-AF65-F5344CB8AC3E}">
        <p14:creationId xmlns:p14="http://schemas.microsoft.com/office/powerpoint/2010/main" val="3266221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A504-86CC-7E71-6045-13FB0A97BE86}"/>
              </a:ext>
            </a:extLst>
          </p:cNvPr>
          <p:cNvSpPr>
            <a:spLocks noGrp="1"/>
          </p:cNvSpPr>
          <p:nvPr>
            <p:ph type="title"/>
          </p:nvPr>
        </p:nvSpPr>
        <p:spPr/>
        <p:txBody>
          <a:bodyPr/>
          <a:lstStyle/>
          <a:p>
            <a:pPr algn="ctr"/>
            <a:r>
              <a:rPr lang="en-US" b="1" dirty="0"/>
              <a:t>Automated Deployment (CI/CD Pipeline)</a:t>
            </a:r>
          </a:p>
        </p:txBody>
      </p:sp>
      <p:sp>
        <p:nvSpPr>
          <p:cNvPr id="4" name="Rectangle 1">
            <a:extLst>
              <a:ext uri="{FF2B5EF4-FFF2-40B4-BE49-F238E27FC236}">
                <a16:creationId xmlns:a16="http://schemas.microsoft.com/office/drawing/2014/main" id="{9ACA4EBF-DB4C-DDED-1CAB-35EC5DE23AE6}"/>
              </a:ext>
            </a:extLst>
          </p:cNvPr>
          <p:cNvSpPr>
            <a:spLocks noGrp="1" noChangeArrowheads="1"/>
          </p:cNvSpPr>
          <p:nvPr>
            <p:ph idx="1"/>
          </p:nvPr>
        </p:nvSpPr>
        <p:spPr bwMode="auto">
          <a:xfrm>
            <a:off x="1764073" y="2405706"/>
            <a:ext cx="87248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Continuous Integration: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Triggers on pushes to the main branch. Automates Python setup, dependency installation, and Docker image builds.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Deployment Validation: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Spins up the container on the GitHub runner and executes a live Health Check (curl -f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2"/>
              </a:rPr>
              <a:t>http://localhost:8000/docs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Self-Healing Rollback Strategy: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If the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FastAPI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server crashes due to a bad commit or missing API key, the pipeline automatically catches the failure, deletes the broken container, and aborts the deployment to protect production.</a:t>
            </a:r>
          </a:p>
        </p:txBody>
      </p:sp>
    </p:spTree>
    <p:extLst>
      <p:ext uri="{BB962C8B-B14F-4D97-AF65-F5344CB8AC3E}">
        <p14:creationId xmlns:p14="http://schemas.microsoft.com/office/powerpoint/2010/main" val="2378442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800D-0647-EE1F-72F1-3C927E825496}"/>
              </a:ext>
            </a:extLst>
          </p:cNvPr>
          <p:cNvSpPr>
            <a:spLocks noGrp="1"/>
          </p:cNvSpPr>
          <p:nvPr>
            <p:ph type="title"/>
          </p:nvPr>
        </p:nvSpPr>
        <p:spPr/>
        <p:txBody>
          <a:bodyPr/>
          <a:lstStyle/>
          <a:p>
            <a:pPr algn="ctr"/>
            <a:r>
              <a:rPr lang="en-US" b="1" dirty="0"/>
              <a:t>Event-Driven Continuous Improvement</a:t>
            </a:r>
          </a:p>
        </p:txBody>
      </p:sp>
      <p:sp>
        <p:nvSpPr>
          <p:cNvPr id="4" name="Rectangle 1">
            <a:extLst>
              <a:ext uri="{FF2B5EF4-FFF2-40B4-BE49-F238E27FC236}">
                <a16:creationId xmlns:a16="http://schemas.microsoft.com/office/drawing/2014/main" id="{25F6F753-C331-8A1C-8A50-A44321B26573}"/>
              </a:ext>
            </a:extLst>
          </p:cNvPr>
          <p:cNvSpPr>
            <a:spLocks noGrp="1" noChangeArrowheads="1"/>
          </p:cNvSpPr>
          <p:nvPr>
            <p:ph idx="1"/>
          </p:nvPr>
        </p:nvSpPr>
        <p:spPr bwMode="auto">
          <a:xfrm>
            <a:off x="555147" y="1882619"/>
            <a:ext cx="557133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Static vector databases become outdated as new products release.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Implementation: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Configured a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repository_dispatch</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webhook in GitHub actions listening for the feedback-threshold-reached event.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Business Value: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If the customer support team flags too many answers as "unhelpful," this webhook automatically triggers the pipeline to pull the newest CSV ticket data, rebuild the FAISS database natively in Docker, and redeploy the updated intelligence with zero human intervention.</a:t>
            </a:r>
          </a:p>
        </p:txBody>
      </p:sp>
      <p:pic>
        <p:nvPicPr>
          <p:cNvPr id="5" name="Picture 4">
            <a:extLst>
              <a:ext uri="{FF2B5EF4-FFF2-40B4-BE49-F238E27FC236}">
                <a16:creationId xmlns:a16="http://schemas.microsoft.com/office/drawing/2014/main" id="{293520F1-4709-CCE7-2B58-B460E65677D2}"/>
              </a:ext>
            </a:extLst>
          </p:cNvPr>
          <p:cNvPicPr>
            <a:picLocks noChangeAspect="1"/>
          </p:cNvPicPr>
          <p:nvPr/>
        </p:nvPicPr>
        <p:blipFill>
          <a:blip r:embed="rId2"/>
          <a:stretch>
            <a:fillRect/>
          </a:stretch>
        </p:blipFill>
        <p:spPr>
          <a:xfrm>
            <a:off x="7092775" y="1981471"/>
            <a:ext cx="4890135" cy="3895725"/>
          </a:xfrm>
          <a:prstGeom prst="rect">
            <a:avLst/>
          </a:prstGeom>
        </p:spPr>
      </p:pic>
    </p:spTree>
    <p:extLst>
      <p:ext uri="{BB962C8B-B14F-4D97-AF65-F5344CB8AC3E}">
        <p14:creationId xmlns:p14="http://schemas.microsoft.com/office/powerpoint/2010/main" val="3529337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B1D1B9-7B34-22D1-CC41-3D16CD32DACE}"/>
              </a:ext>
            </a:extLst>
          </p:cNvPr>
          <p:cNvSpPr txBox="1"/>
          <p:nvPr/>
        </p:nvSpPr>
        <p:spPr>
          <a:xfrm>
            <a:off x="1756882" y="1212350"/>
            <a:ext cx="9051532" cy="2308324"/>
          </a:xfrm>
          <a:prstGeom prst="rect">
            <a:avLst/>
          </a:prstGeom>
          <a:noFill/>
        </p:spPr>
        <p:txBody>
          <a:bodyPr wrap="square" rtlCol="0">
            <a:spAutoFit/>
          </a:bodyPr>
          <a:lstStyle/>
          <a:p>
            <a:pPr algn="ctr"/>
            <a:endParaRPr lang="en-US" sz="2400" b="1" dirty="0"/>
          </a:p>
          <a:p>
            <a:pPr algn="ctr"/>
            <a:r>
              <a:rPr lang="en-US" sz="2400" b="1" dirty="0"/>
              <a:t>Capstone Project 3</a:t>
            </a:r>
          </a:p>
          <a:p>
            <a:pPr algn="ctr"/>
            <a:endParaRPr lang="en-US" sz="2400" dirty="0"/>
          </a:p>
          <a:p>
            <a:pPr algn="ctr"/>
            <a:r>
              <a:rPr lang="en-US" sz="2400" dirty="0"/>
              <a:t> </a:t>
            </a:r>
            <a:r>
              <a:rPr lang="en-US" sz="2400" b="1" dirty="0"/>
              <a:t>RAG Pipeline with Azure Prompt Flow &amp; Azure AI Services </a:t>
            </a:r>
            <a:endParaRPr lang="en-US" sz="2400" dirty="0"/>
          </a:p>
          <a:p>
            <a:pPr algn="ctr"/>
            <a:r>
              <a:rPr lang="en-US" sz="2400" b="1" dirty="0"/>
              <a:t>Objective </a:t>
            </a:r>
          </a:p>
          <a:p>
            <a:pPr algn="ctr"/>
            <a:endParaRPr lang="en-US" sz="2400" dirty="0"/>
          </a:p>
        </p:txBody>
      </p:sp>
    </p:spTree>
    <p:extLst>
      <p:ext uri="{BB962C8B-B14F-4D97-AF65-F5344CB8AC3E}">
        <p14:creationId xmlns:p14="http://schemas.microsoft.com/office/powerpoint/2010/main" val="2961215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209B2-6571-388A-F113-AB1817E9A2CB}"/>
              </a:ext>
            </a:extLst>
          </p:cNvPr>
          <p:cNvSpPr>
            <a:spLocks noGrp="1"/>
          </p:cNvSpPr>
          <p:nvPr>
            <p:ph type="title"/>
          </p:nvPr>
        </p:nvSpPr>
        <p:spPr>
          <a:xfrm>
            <a:off x="1066800" y="0"/>
            <a:ext cx="10058400" cy="1450757"/>
          </a:xfrm>
        </p:spPr>
        <p:txBody>
          <a:bodyPr>
            <a:normAutofit/>
          </a:bodyPr>
          <a:lstStyle/>
          <a:p>
            <a:pPr algn="ctr"/>
            <a:r>
              <a:rPr lang="en-US" b="1" dirty="0"/>
              <a:t>The Enterprise AI Dilemma</a:t>
            </a:r>
            <a:br>
              <a:rPr lang="en-US" b="1" dirty="0"/>
            </a:br>
            <a:r>
              <a:rPr lang="en-US" sz="2700" dirty="0"/>
              <a:t>The Problem with "Black Box" Generative AI</a:t>
            </a:r>
            <a:endParaRPr lang="en-US" sz="2700" b="1" dirty="0"/>
          </a:p>
        </p:txBody>
      </p:sp>
      <p:sp>
        <p:nvSpPr>
          <p:cNvPr id="4" name="Rectangle 1">
            <a:extLst>
              <a:ext uri="{FF2B5EF4-FFF2-40B4-BE49-F238E27FC236}">
                <a16:creationId xmlns:a16="http://schemas.microsoft.com/office/drawing/2014/main" id="{C40EC86D-EF85-4EE9-7BAD-4B75B208BDA1}"/>
              </a:ext>
            </a:extLst>
          </p:cNvPr>
          <p:cNvSpPr>
            <a:spLocks noGrp="1" noChangeArrowheads="1"/>
          </p:cNvSpPr>
          <p:nvPr>
            <p:ph idx="1"/>
          </p:nvPr>
        </p:nvSpPr>
        <p:spPr bwMode="auto">
          <a:xfrm>
            <a:off x="2412372" y="1974862"/>
            <a:ext cx="768521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Industry Challenge: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Large Language Models (LLMs) are powerful, but they suffer from hallucinations and lack domain-specific knowledge (e.g., proprietary Tesla financial filings or internal support policies).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Naive Approach:</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Basic RAG implementations are written in raw code, making them difficult to debug, scale, and evaluate at an enterprise level.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Prompt Flow Solution: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Microsoft Azure Prompt Flow provides a visual, modular Directed Acyclic Graph (DAG). It allows engineering teams to physically see the data flow, inject strict context, and automatically grade the AI's accuracy before deploying it to users.</a:t>
            </a:r>
          </a:p>
        </p:txBody>
      </p:sp>
    </p:spTree>
    <p:extLst>
      <p:ext uri="{BB962C8B-B14F-4D97-AF65-F5344CB8AC3E}">
        <p14:creationId xmlns:p14="http://schemas.microsoft.com/office/powerpoint/2010/main" val="897939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E1A1FCD-E414-09DE-A4B6-8A3048AEC61F}"/>
              </a:ext>
            </a:extLst>
          </p:cNvPr>
          <p:cNvPicPr>
            <a:picLocks noChangeAspect="1"/>
          </p:cNvPicPr>
          <p:nvPr/>
        </p:nvPicPr>
        <p:blipFill>
          <a:blip r:embed="rId2"/>
          <a:stretch>
            <a:fillRect/>
          </a:stretch>
        </p:blipFill>
        <p:spPr>
          <a:xfrm>
            <a:off x="1719913" y="69351"/>
            <a:ext cx="7362442" cy="5937616"/>
          </a:xfrm>
          <a:prstGeom prst="rect">
            <a:avLst/>
          </a:prstGeom>
        </p:spPr>
      </p:pic>
    </p:spTree>
    <p:extLst>
      <p:ext uri="{BB962C8B-B14F-4D97-AF65-F5344CB8AC3E}">
        <p14:creationId xmlns:p14="http://schemas.microsoft.com/office/powerpoint/2010/main" val="1331252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5802-B75D-39F7-C753-C05A6DFF1192}"/>
              </a:ext>
            </a:extLst>
          </p:cNvPr>
          <p:cNvSpPr>
            <a:spLocks noGrp="1"/>
          </p:cNvSpPr>
          <p:nvPr>
            <p:ph type="title"/>
          </p:nvPr>
        </p:nvSpPr>
        <p:spPr>
          <a:xfrm>
            <a:off x="1097280" y="339047"/>
            <a:ext cx="10058400" cy="1069540"/>
          </a:xfrm>
        </p:spPr>
        <p:txBody>
          <a:bodyPr/>
          <a:lstStyle/>
          <a:p>
            <a:pPr algn="ctr"/>
            <a:r>
              <a:rPr lang="en-US" b="1" dirty="0"/>
              <a:t>Knowledge Base Indexing</a:t>
            </a:r>
          </a:p>
        </p:txBody>
      </p:sp>
      <p:sp>
        <p:nvSpPr>
          <p:cNvPr id="4" name="Rectangle 1">
            <a:extLst>
              <a:ext uri="{FF2B5EF4-FFF2-40B4-BE49-F238E27FC236}">
                <a16:creationId xmlns:a16="http://schemas.microsoft.com/office/drawing/2014/main" id="{FDDA2509-1D6D-86DC-86C1-B94537106334}"/>
              </a:ext>
            </a:extLst>
          </p:cNvPr>
          <p:cNvSpPr>
            <a:spLocks noGrp="1" noChangeArrowheads="1"/>
          </p:cNvSpPr>
          <p:nvPr>
            <p:ph idx="1"/>
          </p:nvPr>
        </p:nvSpPr>
        <p:spPr bwMode="auto">
          <a:xfrm>
            <a:off x="1097280" y="1656811"/>
            <a:ext cx="487200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Dataset: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Domain-specific corporate documentation  uploaded to Azure ML Data Assets.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Vector Indexing: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Utilizing the Azure Prompt Flow Vector Index wizard, the raw PDFs/text files are chunked into logical segments.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Embedding: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Each chunk is converted into a mathematical vector array using text-embedding-ada-002 and pushed to an active Azure AI Search index.</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Result: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The system can now perform "Hybrid Search“ - combining keyword matching with deep semantic understanding to retrieve exact policy paragraphs.</a:t>
            </a:r>
          </a:p>
        </p:txBody>
      </p:sp>
      <p:pic>
        <p:nvPicPr>
          <p:cNvPr id="6" name="Picture 5">
            <a:extLst>
              <a:ext uri="{FF2B5EF4-FFF2-40B4-BE49-F238E27FC236}">
                <a16:creationId xmlns:a16="http://schemas.microsoft.com/office/drawing/2014/main" id="{6114C4FF-F82E-86C2-CC7A-AC524292F4DF}"/>
              </a:ext>
            </a:extLst>
          </p:cNvPr>
          <p:cNvPicPr>
            <a:picLocks noChangeAspect="1"/>
          </p:cNvPicPr>
          <p:nvPr/>
        </p:nvPicPr>
        <p:blipFill>
          <a:blip r:embed="rId2"/>
          <a:stretch>
            <a:fillRect/>
          </a:stretch>
        </p:blipFill>
        <p:spPr>
          <a:xfrm>
            <a:off x="6222717" y="2565495"/>
            <a:ext cx="5202146" cy="2417472"/>
          </a:xfrm>
          <a:prstGeom prst="rect">
            <a:avLst/>
          </a:prstGeom>
        </p:spPr>
      </p:pic>
    </p:spTree>
    <p:extLst>
      <p:ext uri="{BB962C8B-B14F-4D97-AF65-F5344CB8AC3E}">
        <p14:creationId xmlns:p14="http://schemas.microsoft.com/office/powerpoint/2010/main" val="659455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D8671-9128-029C-4E95-94570C8FAC54}"/>
              </a:ext>
            </a:extLst>
          </p:cNvPr>
          <p:cNvSpPr>
            <a:spLocks noGrp="1"/>
          </p:cNvSpPr>
          <p:nvPr>
            <p:ph type="title"/>
          </p:nvPr>
        </p:nvSpPr>
        <p:spPr>
          <a:xfrm>
            <a:off x="1066800" y="359596"/>
            <a:ext cx="10058400" cy="1007895"/>
          </a:xfrm>
        </p:spPr>
        <p:txBody>
          <a:bodyPr/>
          <a:lstStyle/>
          <a:p>
            <a:pPr algn="ctr"/>
            <a:r>
              <a:rPr lang="en-US" b="1" dirty="0"/>
              <a:t>Orchestrating the Prompt Flow</a:t>
            </a:r>
          </a:p>
        </p:txBody>
      </p:sp>
      <p:sp>
        <p:nvSpPr>
          <p:cNvPr id="4" name="Rectangle 1">
            <a:extLst>
              <a:ext uri="{FF2B5EF4-FFF2-40B4-BE49-F238E27FC236}">
                <a16:creationId xmlns:a16="http://schemas.microsoft.com/office/drawing/2014/main" id="{F3234EF6-E033-43F4-543A-C71A3F6C903E}"/>
              </a:ext>
            </a:extLst>
          </p:cNvPr>
          <p:cNvSpPr>
            <a:spLocks noGrp="1" noChangeArrowheads="1"/>
          </p:cNvSpPr>
          <p:nvPr>
            <p:ph idx="1"/>
          </p:nvPr>
        </p:nvSpPr>
        <p:spPr bwMode="auto">
          <a:xfrm>
            <a:off x="1097280" y="2118477"/>
            <a:ext cx="558092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embed_question</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Converts the user's live natural language query into a vector.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retrieve_docs</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Executes a Vector DB Lookup against Azure AI Search, fetching the top 5 most relevant document chunks.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format_context</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 custom Python node that safely parses the retrieved JSON objects and concatenates them into a clean string to prevent LLM confusion.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build_prompt</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 Jinja2 node that constructs the final prompt, injecting the formatted context and the user's chat history.</a:t>
            </a:r>
          </a:p>
        </p:txBody>
      </p:sp>
      <p:pic>
        <p:nvPicPr>
          <p:cNvPr id="5" name="Picture 4">
            <a:extLst>
              <a:ext uri="{FF2B5EF4-FFF2-40B4-BE49-F238E27FC236}">
                <a16:creationId xmlns:a16="http://schemas.microsoft.com/office/drawing/2014/main" id="{DBF85F65-A221-DB45-754D-E5DE2062F115}"/>
              </a:ext>
            </a:extLst>
          </p:cNvPr>
          <p:cNvPicPr>
            <a:picLocks noChangeAspect="1"/>
          </p:cNvPicPr>
          <p:nvPr/>
        </p:nvPicPr>
        <p:blipFill>
          <a:blip r:embed="rId2"/>
          <a:stretch>
            <a:fillRect/>
          </a:stretch>
        </p:blipFill>
        <p:spPr>
          <a:xfrm>
            <a:off x="7690813" y="1821259"/>
            <a:ext cx="3847065" cy="4296992"/>
          </a:xfrm>
          <a:prstGeom prst="rect">
            <a:avLst/>
          </a:prstGeom>
        </p:spPr>
      </p:pic>
    </p:spTree>
    <p:extLst>
      <p:ext uri="{BB962C8B-B14F-4D97-AF65-F5344CB8AC3E}">
        <p14:creationId xmlns:p14="http://schemas.microsoft.com/office/powerpoint/2010/main" val="208651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3B49-EF46-D1E6-80CA-C7A531573C98}"/>
              </a:ext>
            </a:extLst>
          </p:cNvPr>
          <p:cNvSpPr>
            <a:spLocks noGrp="1"/>
          </p:cNvSpPr>
          <p:nvPr>
            <p:ph type="title"/>
          </p:nvPr>
        </p:nvSpPr>
        <p:spPr>
          <a:xfrm>
            <a:off x="1097280" y="286603"/>
            <a:ext cx="10058400" cy="915473"/>
          </a:xfrm>
        </p:spPr>
        <p:txBody>
          <a:bodyPr/>
          <a:lstStyle/>
          <a:p>
            <a:pPr algn="ctr"/>
            <a:r>
              <a:rPr lang="en-US" b="1" dirty="0"/>
              <a:t>Automated Batch Evaluation</a:t>
            </a:r>
          </a:p>
        </p:txBody>
      </p:sp>
      <p:sp>
        <p:nvSpPr>
          <p:cNvPr id="4" name="Rectangle 1">
            <a:extLst>
              <a:ext uri="{FF2B5EF4-FFF2-40B4-BE49-F238E27FC236}">
                <a16:creationId xmlns:a16="http://schemas.microsoft.com/office/drawing/2014/main" id="{7219DB12-83E6-61C4-45E3-2EDBE350D1B1}"/>
              </a:ext>
            </a:extLst>
          </p:cNvPr>
          <p:cNvSpPr>
            <a:spLocks noGrp="1" noChangeArrowheads="1"/>
          </p:cNvSpPr>
          <p:nvPr>
            <p:ph idx="1"/>
          </p:nvPr>
        </p:nvSpPr>
        <p:spPr bwMode="auto">
          <a:xfrm>
            <a:off x="2134969" y="3783004"/>
            <a:ext cx="752273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Evaluation Strategy: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You cannot use standard unit tests for Generative AI. Instead, we use Microsoft's Built-in QA Evaluation flow.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Dataset: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 custom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json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file containing 10 complex question-and-answer pairs representing "Ground Truth".</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Judge: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 external GPT-4.1-mini model is tasked with reading the RAG pipeline's generated answers, comparing them to the retrieved context and the ground truth, and scoring them from 1 to 5.</a:t>
            </a:r>
          </a:p>
        </p:txBody>
      </p:sp>
      <p:pic>
        <p:nvPicPr>
          <p:cNvPr id="5" name="Picture 4">
            <a:extLst>
              <a:ext uri="{FF2B5EF4-FFF2-40B4-BE49-F238E27FC236}">
                <a16:creationId xmlns:a16="http://schemas.microsoft.com/office/drawing/2014/main" id="{3FDDE59C-E685-56CB-168E-64C9D5EF2320}"/>
              </a:ext>
            </a:extLst>
          </p:cNvPr>
          <p:cNvPicPr>
            <a:picLocks noChangeAspect="1"/>
          </p:cNvPicPr>
          <p:nvPr/>
        </p:nvPicPr>
        <p:blipFill>
          <a:blip r:embed="rId2"/>
          <a:stretch>
            <a:fillRect/>
          </a:stretch>
        </p:blipFill>
        <p:spPr>
          <a:xfrm>
            <a:off x="613704" y="1411841"/>
            <a:ext cx="10964592" cy="2161398"/>
          </a:xfrm>
          <a:prstGeom prst="rect">
            <a:avLst/>
          </a:prstGeom>
        </p:spPr>
      </p:pic>
    </p:spTree>
    <p:extLst>
      <p:ext uri="{BB962C8B-B14F-4D97-AF65-F5344CB8AC3E}">
        <p14:creationId xmlns:p14="http://schemas.microsoft.com/office/powerpoint/2010/main" val="270283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FE7B-3E6A-D1DA-A429-FEC884BEB7C8}"/>
              </a:ext>
            </a:extLst>
          </p:cNvPr>
          <p:cNvSpPr>
            <a:spLocks noGrp="1"/>
          </p:cNvSpPr>
          <p:nvPr>
            <p:ph type="title"/>
          </p:nvPr>
        </p:nvSpPr>
        <p:spPr>
          <a:xfrm>
            <a:off x="1097280" y="286603"/>
            <a:ext cx="10058400" cy="1038763"/>
          </a:xfrm>
        </p:spPr>
        <p:txBody>
          <a:bodyPr/>
          <a:lstStyle/>
          <a:p>
            <a:pPr algn="ctr"/>
            <a:r>
              <a:rPr lang="en-US" b="1" dirty="0"/>
              <a:t>Evaluation Metrics &amp; Business Validation</a:t>
            </a:r>
          </a:p>
        </p:txBody>
      </p:sp>
      <p:sp>
        <p:nvSpPr>
          <p:cNvPr id="4" name="Rectangle 1">
            <a:extLst>
              <a:ext uri="{FF2B5EF4-FFF2-40B4-BE49-F238E27FC236}">
                <a16:creationId xmlns:a16="http://schemas.microsoft.com/office/drawing/2014/main" id="{30E297BA-8BB5-0940-2DA0-BDE2403A463F}"/>
              </a:ext>
            </a:extLst>
          </p:cNvPr>
          <p:cNvSpPr>
            <a:spLocks noGrp="1" noChangeArrowheads="1"/>
          </p:cNvSpPr>
          <p:nvPr>
            <p:ph idx="1"/>
          </p:nvPr>
        </p:nvSpPr>
        <p:spPr bwMode="auto">
          <a:xfrm>
            <a:off x="2535662" y="2251996"/>
            <a:ext cx="773837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Groundedness</a:t>
            </a:r>
            <a:r>
              <a:rPr kumimoji="0" lang="en-US" altLang="en-US" sz="1800" b="1" i="0" u="none" strike="noStrike" cap="none" normalizeH="0" baseline="0" dirty="0">
                <a:ln>
                  <a:noFill/>
                </a:ln>
                <a:solidFill>
                  <a:schemeClr val="tx1"/>
                </a:solidFill>
                <a:effectLst/>
                <a:latin typeface="Arial" panose="020B0604020202020204" pitchFamily="34" charset="0"/>
              </a:rPr>
              <a:t>: 5.0 (100%)</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1" u="none" strike="noStrike" cap="none" normalizeH="0" baseline="0" dirty="0">
                <a:ln>
                  <a:noFill/>
                </a:ln>
                <a:solidFill>
                  <a:schemeClr val="tx1"/>
                </a:solidFill>
                <a:effectLst/>
                <a:latin typeface="Arial" panose="020B0604020202020204" pitchFamily="34" charset="0"/>
              </a:rPr>
              <a:t>Zero Hallucinations.</a:t>
            </a:r>
            <a:r>
              <a:rPr kumimoji="0" lang="en-US" altLang="en-US" sz="1800" b="0" i="0" u="none" strike="noStrike" cap="none" normalizeH="0" baseline="0" dirty="0">
                <a:ln>
                  <a:noFill/>
                </a:ln>
                <a:solidFill>
                  <a:schemeClr val="tx1"/>
                </a:solidFill>
                <a:effectLst/>
                <a:latin typeface="Arial" panose="020B0604020202020204" pitchFamily="34" charset="0"/>
              </a:rPr>
              <a:t> The AI strictly used the retrieved documents.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Relevance: 5.0 (100%)</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1" u="none" strike="noStrike" cap="none" normalizeH="0" baseline="0" dirty="0">
                <a:ln>
                  <a:noFill/>
                </a:ln>
                <a:solidFill>
                  <a:schemeClr val="tx1"/>
                </a:solidFill>
                <a:effectLst/>
                <a:latin typeface="Arial" panose="020B0604020202020204" pitchFamily="34" charset="0"/>
              </a:rPr>
              <a:t>Perfect Retrieval.</a:t>
            </a:r>
            <a:r>
              <a:rPr kumimoji="0" lang="en-US" altLang="en-US" sz="1800" b="0" i="0" u="none" strike="noStrike" cap="none" normalizeH="0" baseline="0" dirty="0">
                <a:ln>
                  <a:noFill/>
                </a:ln>
                <a:solidFill>
                  <a:schemeClr val="tx1"/>
                </a:solidFill>
                <a:effectLst/>
                <a:latin typeface="Arial" panose="020B0604020202020204" pitchFamily="34" charset="0"/>
              </a:rPr>
              <a:t> Azure AI Search successfully found the exact policy paragraphs.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Fluency: 5.0 (100%)</a:t>
            </a:r>
            <a:r>
              <a:rPr kumimoji="0" lang="en-US" altLang="en-US" sz="1800" b="0" i="0" u="none" strike="noStrike" cap="none" normalizeH="0" baseline="0" dirty="0">
                <a:ln>
                  <a:noFill/>
                </a:ln>
                <a:solidFill>
                  <a:schemeClr val="tx1"/>
                </a:solidFill>
                <a:effectLst/>
                <a:latin typeface="Arial" panose="020B0604020202020204" pitchFamily="34" charset="0"/>
              </a:rPr>
              <a:t> – The model generated perfectly readable, grammatically correct English.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Similarity: 4.4 (100%)</a:t>
            </a:r>
            <a:r>
              <a:rPr kumimoji="0" lang="en-US" altLang="en-US" sz="1800" b="0" i="0" u="none" strike="noStrike" cap="none" normalizeH="0" baseline="0" dirty="0">
                <a:ln>
                  <a:noFill/>
                </a:ln>
                <a:solidFill>
                  <a:schemeClr val="tx1"/>
                </a:solidFill>
                <a:effectLst/>
                <a:latin typeface="Arial" panose="020B0604020202020204" pitchFamily="34" charset="0"/>
              </a:rPr>
              <a:t> – The model successfully maintained factual integrity while intelligently adapting rigid ground-truth text into conversational support responses.</a:t>
            </a:r>
          </a:p>
        </p:txBody>
      </p:sp>
    </p:spTree>
    <p:extLst>
      <p:ext uri="{BB962C8B-B14F-4D97-AF65-F5344CB8AC3E}">
        <p14:creationId xmlns:p14="http://schemas.microsoft.com/office/powerpoint/2010/main" val="2047533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8F626-4814-450C-639C-8C255FC93DDF}"/>
              </a:ext>
            </a:extLst>
          </p:cNvPr>
          <p:cNvSpPr>
            <a:spLocks noGrp="1"/>
          </p:cNvSpPr>
          <p:nvPr>
            <p:ph type="title"/>
          </p:nvPr>
        </p:nvSpPr>
        <p:spPr/>
        <p:txBody>
          <a:bodyPr/>
          <a:lstStyle/>
          <a:p>
            <a:pPr algn="ctr"/>
            <a:r>
              <a:rPr lang="en-US" b="1" dirty="0"/>
              <a:t>Cloud Deployment</a:t>
            </a:r>
          </a:p>
        </p:txBody>
      </p:sp>
      <p:sp>
        <p:nvSpPr>
          <p:cNvPr id="4" name="Rectangle 1">
            <a:extLst>
              <a:ext uri="{FF2B5EF4-FFF2-40B4-BE49-F238E27FC236}">
                <a16:creationId xmlns:a16="http://schemas.microsoft.com/office/drawing/2014/main" id="{CCEBBF89-2F6B-0D0C-7789-FE43E0DECD6C}"/>
              </a:ext>
            </a:extLst>
          </p:cNvPr>
          <p:cNvSpPr>
            <a:spLocks noGrp="1" noChangeArrowheads="1"/>
          </p:cNvSpPr>
          <p:nvPr>
            <p:ph idx="1"/>
          </p:nvPr>
        </p:nvSpPr>
        <p:spPr bwMode="auto">
          <a:xfrm>
            <a:off x="480831" y="2087877"/>
            <a:ext cx="54062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Compute: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Deployed to a Standard_D2as_v4 virtual machine to balance cost-efficiency with the memory requirements for a stable Python ASGI server.</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Routing:</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Deployed as a managed online endpoint (rag-pipeline-endpoint). Azure handles load balancing and SSL encryption automatically.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Security: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Secured via key-based authentication (</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auth_mode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="key"), ensuring only authorized client applications can consume the RAG pipeline.</a:t>
            </a:r>
          </a:p>
        </p:txBody>
      </p:sp>
      <p:pic>
        <p:nvPicPr>
          <p:cNvPr id="5" name="Picture 4">
            <a:extLst>
              <a:ext uri="{FF2B5EF4-FFF2-40B4-BE49-F238E27FC236}">
                <a16:creationId xmlns:a16="http://schemas.microsoft.com/office/drawing/2014/main" id="{C56CBF92-027F-EC7A-6866-9CA58A9CFA24}"/>
              </a:ext>
            </a:extLst>
          </p:cNvPr>
          <p:cNvPicPr>
            <a:picLocks noChangeAspect="1"/>
          </p:cNvPicPr>
          <p:nvPr/>
        </p:nvPicPr>
        <p:blipFill>
          <a:blip r:embed="rId2"/>
          <a:stretch>
            <a:fillRect/>
          </a:stretch>
        </p:blipFill>
        <p:spPr>
          <a:xfrm>
            <a:off x="6096000" y="2188449"/>
            <a:ext cx="5943600" cy="2809875"/>
          </a:xfrm>
          <a:prstGeom prst="rect">
            <a:avLst/>
          </a:prstGeom>
        </p:spPr>
      </p:pic>
    </p:spTree>
    <p:extLst>
      <p:ext uri="{BB962C8B-B14F-4D97-AF65-F5344CB8AC3E}">
        <p14:creationId xmlns:p14="http://schemas.microsoft.com/office/powerpoint/2010/main" val="901517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19251-A15A-C2C5-7F2F-F2D319BAD8C3}"/>
              </a:ext>
            </a:extLst>
          </p:cNvPr>
          <p:cNvSpPr>
            <a:spLocks noGrp="1"/>
          </p:cNvSpPr>
          <p:nvPr>
            <p:ph type="title"/>
          </p:nvPr>
        </p:nvSpPr>
        <p:spPr>
          <a:xfrm>
            <a:off x="1097280" y="286603"/>
            <a:ext cx="10058400" cy="997667"/>
          </a:xfrm>
        </p:spPr>
        <p:txBody>
          <a:bodyPr/>
          <a:lstStyle/>
          <a:p>
            <a:pPr algn="ctr"/>
            <a:r>
              <a:rPr lang="en-US" b="1" dirty="0"/>
              <a:t>Endpoint Consumption</a:t>
            </a:r>
          </a:p>
        </p:txBody>
      </p:sp>
      <p:pic>
        <p:nvPicPr>
          <p:cNvPr id="4" name="Content Placeholder 3">
            <a:extLst>
              <a:ext uri="{FF2B5EF4-FFF2-40B4-BE49-F238E27FC236}">
                <a16:creationId xmlns:a16="http://schemas.microsoft.com/office/drawing/2014/main" id="{269966D3-363F-E260-59F8-BAC44C02C508}"/>
              </a:ext>
            </a:extLst>
          </p:cNvPr>
          <p:cNvPicPr>
            <a:picLocks noGrp="1" noChangeAspect="1"/>
          </p:cNvPicPr>
          <p:nvPr>
            <p:ph idx="1"/>
          </p:nvPr>
        </p:nvPicPr>
        <p:blipFill>
          <a:blip r:embed="rId2"/>
          <a:stretch>
            <a:fillRect/>
          </a:stretch>
        </p:blipFill>
        <p:spPr>
          <a:xfrm>
            <a:off x="406604" y="1897634"/>
            <a:ext cx="7493191" cy="3537395"/>
          </a:xfrm>
          <a:prstGeom prst="rect">
            <a:avLst/>
          </a:prstGeom>
        </p:spPr>
      </p:pic>
      <p:pic>
        <p:nvPicPr>
          <p:cNvPr id="5" name="Picture 4">
            <a:extLst>
              <a:ext uri="{FF2B5EF4-FFF2-40B4-BE49-F238E27FC236}">
                <a16:creationId xmlns:a16="http://schemas.microsoft.com/office/drawing/2014/main" id="{B80FAA58-5D9C-9859-FD33-87FCC107A310}"/>
              </a:ext>
            </a:extLst>
          </p:cNvPr>
          <p:cNvPicPr>
            <a:picLocks noChangeAspect="1"/>
          </p:cNvPicPr>
          <p:nvPr/>
        </p:nvPicPr>
        <p:blipFill>
          <a:blip r:embed="rId3"/>
          <a:stretch>
            <a:fillRect/>
          </a:stretch>
        </p:blipFill>
        <p:spPr>
          <a:xfrm>
            <a:off x="483741" y="5513402"/>
            <a:ext cx="9780141" cy="926815"/>
          </a:xfrm>
          <a:prstGeom prst="rect">
            <a:avLst/>
          </a:prstGeom>
        </p:spPr>
      </p:pic>
      <p:sp>
        <p:nvSpPr>
          <p:cNvPr id="6" name="Rectangle 5">
            <a:extLst>
              <a:ext uri="{FF2B5EF4-FFF2-40B4-BE49-F238E27FC236}">
                <a16:creationId xmlns:a16="http://schemas.microsoft.com/office/drawing/2014/main" id="{593E6FCB-F38E-C521-B9CF-B85068A7680B}"/>
              </a:ext>
            </a:extLst>
          </p:cNvPr>
          <p:cNvSpPr/>
          <p:nvPr/>
        </p:nvSpPr>
        <p:spPr>
          <a:xfrm>
            <a:off x="2856216" y="2260315"/>
            <a:ext cx="2876764" cy="616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327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42A994-3CD4-66DA-3E16-F78C346C5729}"/>
              </a:ext>
            </a:extLst>
          </p:cNvPr>
          <p:cNvSpPr txBox="1"/>
          <p:nvPr/>
        </p:nvSpPr>
        <p:spPr>
          <a:xfrm>
            <a:off x="4458985" y="2413337"/>
            <a:ext cx="7489860" cy="1015663"/>
          </a:xfrm>
          <a:prstGeom prst="rect">
            <a:avLst/>
          </a:prstGeom>
          <a:noFill/>
        </p:spPr>
        <p:txBody>
          <a:bodyPr wrap="square" rtlCol="0">
            <a:spAutoFit/>
          </a:bodyPr>
          <a:lstStyle/>
          <a:p>
            <a:r>
              <a:rPr lang="en-US" sz="6000" dirty="0"/>
              <a:t>Thank You</a:t>
            </a:r>
          </a:p>
        </p:txBody>
      </p:sp>
    </p:spTree>
    <p:extLst>
      <p:ext uri="{BB962C8B-B14F-4D97-AF65-F5344CB8AC3E}">
        <p14:creationId xmlns:p14="http://schemas.microsoft.com/office/powerpoint/2010/main" val="117817293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133</TotalTime>
  <Words>1742</Words>
  <Application>Microsoft Office PowerPoint</Application>
  <PresentationFormat>Widescreen</PresentationFormat>
  <Paragraphs>129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Retrospect</vt:lpstr>
      <vt:lpstr>Capstone Project </vt:lpstr>
      <vt:lpstr>PowerPoint Presentation</vt:lpstr>
      <vt:lpstr>Business Problem &amp; Objective Mitigating Financial Risk with Predictive AI </vt:lpstr>
      <vt:lpstr>PowerPoint Presentation</vt:lpstr>
      <vt:lpstr>Data Engineering &amp; Preprocessing  </vt:lpstr>
      <vt:lpstr>Solving the Imbalance Problem (SMOTE) </vt:lpstr>
      <vt:lpstr>Model Selection &amp; Hyperparameter Tuning</vt:lpstr>
      <vt:lpstr>Model Evaluation Results</vt:lpstr>
      <vt:lpstr>Real-Time API Deployment (FastAPI)</vt:lpstr>
      <vt:lpstr>Production Monitoring &amp; Live Inference</vt:lpstr>
      <vt:lpstr>Automated Retraining Strategy </vt:lpstr>
      <vt:lpstr>PowerPoint Presentation</vt:lpstr>
      <vt:lpstr>The Problem: "Naive RAG" vs. "Agentic RAG"</vt:lpstr>
      <vt:lpstr>PowerPoint Presentation</vt:lpstr>
      <vt:lpstr>Building the Brain (Hybrid RAG)</vt:lpstr>
      <vt:lpstr>The Multi-Agent Assembly Line </vt:lpstr>
      <vt:lpstr>API Serving &amp; Integration</vt:lpstr>
      <vt:lpstr>Automated Deployment (CI/CD Pipeline)</vt:lpstr>
      <vt:lpstr>Event-Driven Continuous Improvement</vt:lpstr>
      <vt:lpstr>PowerPoint Presentation</vt:lpstr>
      <vt:lpstr>The Enterprise AI Dilemma The Problem with "Black Box" Generative AI</vt:lpstr>
      <vt:lpstr>PowerPoint Presentation</vt:lpstr>
      <vt:lpstr>Knowledge Base Indexing</vt:lpstr>
      <vt:lpstr>Orchestrating the Prompt Flow</vt:lpstr>
      <vt:lpstr>Automated Batch Evaluation</vt:lpstr>
      <vt:lpstr>Evaluation Metrics &amp; Business Validation</vt:lpstr>
      <vt:lpstr>Cloud Deployment</vt:lpstr>
      <vt:lpstr>Endpoint Consumption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Shreesanyog Rath</dc:creator>
  <cp:lastModifiedBy>Shreesanyog Rath</cp:lastModifiedBy>
  <cp:revision>15</cp:revision>
  <dcterms:created xsi:type="dcterms:W3CDTF">2026-05-13T05:13:22Z</dcterms:created>
  <dcterms:modified xsi:type="dcterms:W3CDTF">2026-05-13T07:27:08Z</dcterms:modified>
</cp:coreProperties>
</file>